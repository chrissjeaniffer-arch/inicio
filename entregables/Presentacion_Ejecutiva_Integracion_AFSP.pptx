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5"/>
    <p:sldId id="258" r:id="rId4"/>
    <p:sldId id="259" r:id="rId3"/>
    <p:sldId id="260" r:id="rId2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97"/>
    <a:srgbClr val="3BB4AA"/>
    <a:srgbClr val="3D86C7"/>
    <a:srgbClr val="E5345D"/>
    <a:srgbClr val="FABC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15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customXml" Target="../customXml/item1.xml"/><Relationship Id="rId13" Type="http://schemas.openxmlformats.org/officeDocument/2006/relationships/customXml" Target="../customXml/item2.xml"/><Relationship Id="rId14" Type="http://schemas.openxmlformats.org/officeDocument/2006/relationships/customXml" Target="../customXml/item3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004899"/>
                </a:solidFill>
                <a:latin typeface="Montserrat"/>
              </a:rPr>
              <a:t>Días de atraso respecto del fin de la Formulación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Días de atraso</c:v>
                </c:pt>
              </c:strCache>
            </c:strRef>
          </c:tx>
          <c:spPr>
            <a:solidFill>
              <a:srgbClr val="004899"/>
            </a:solidFill>
          </c:spPr>
          <c:dPt>
            <c:idx val="3"/>
            <c:spPr>
              <a:solidFill>
                <a:srgbClr val="E6375D"/>
              </a:solidFill>
            </c:spPr>
          </c:dPt>
          <c:dPt>
            <c:idx val="4"/>
            <c:spPr>
              <a:solidFill>
                <a:srgbClr val="E6375D"/>
              </a:solidFill>
            </c:spPr>
          </c:dPt>
          <c:dPt>
            <c:idx val="5"/>
            <c:spPr>
              <a:solidFill>
                <a:srgbClr val="E6375D"/>
              </a:solidFill>
            </c:spPr>
          </c:dPt>
          <c:dPt>
            <c:idx val="6"/>
            <c:spPr>
              <a:solidFill>
                <a:srgbClr val="E6375D"/>
              </a:solidFill>
            </c:spPr>
          </c:dPt>
          <c:dPt>
            <c:idx val="7"/>
            <c:spPr>
              <a:solidFill>
                <a:srgbClr val="E6375D"/>
              </a:solidFill>
            </c:spPr>
          </c:dPt>
          <c:cat>
            <c:strRef>
              <c:f>Sheet1!$A$2:$A$9</c:f>
              <c:strCache>
                <c:ptCount val="8"/>
                <c:pt idx="0">
                  <c:v>Programas Presupuestales v2</c:v>
                </c:pt>
                <c:pt idx="1">
                  <c:v>Proyección del servicio de deuda</c:v>
                </c:pt>
                <c:pt idx="2">
                  <c:v>Recursos por OOC, RO y RD</c:v>
                </c:pt>
                <c:pt idx="3">
                  <c:v>Clasificador de Cambio Climático</c:v>
                </c:pt>
                <c:pt idx="4">
                  <c:v>Relación Actividad por Finalidad</c:v>
                </c:pt>
                <c:pt idx="5">
                  <c:v>Administrador de Metas</c:v>
                </c:pt>
                <c:pt idx="6">
                  <c:v>Clasificador de Pueblos Indígenas</c:v>
                </c:pt>
                <c:pt idx="7">
                  <c:v>Formulación por proyecto (Inversiones)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10</c:v>
                </c:pt>
                <c:pt idx="2">
                  <c:v>10</c:v>
                </c:pt>
                <c:pt idx="3">
                  <c:v>44</c:v>
                </c:pt>
                <c:pt idx="4">
                  <c:v>45</c:v>
                </c:pt>
                <c:pt idx="5">
                  <c:v>62</c:v>
                </c:pt>
                <c:pt idx="6">
                  <c:v>71</c:v>
                </c:pt>
                <c:pt idx="7">
                  <c:v>162</c:v>
                </c:pt>
              </c:numCache>
            </c:numRef>
          </c:val>
        </c:ser>
        <c:dLbls>
          <c:numFmt formatCode="0&quot; d&quot;" sourceLinked="0"/>
          <c:txPr>
            <a:bodyPr/>
            <a:lstStyle/>
            <a:p>
              <a:pPr>
                <a:defRPr sz="1200" b="1">
                  <a:solidFill>
                    <a:srgbClr val="004899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0D5DD"/>
            </a:solidFill>
          </a:ln>
        </c:spPr>
        <c:txPr>
          <a:bodyPr/>
          <a:lstStyle/>
          <a:p>
            <a:pPr>
              <a:defRPr sz="1100">
                <a:solidFill>
                  <a:srgbClr val="4B4B4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4B4B4D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68A76-908A-4A67-9416-8C0904BD3E6A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4CFCD-CDA9-42A2-A98A-CC53A210CDB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2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ejecutiva del análisis de integración del cronograma integrado AFSP. El detalle completo (cuadros 1 a 5) está en el informe en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central: el problema no es el cumplimiento de cada sistema sino la integración entre ellos. Sin vínculos en el .mpp no hay ruta crítica y un atraso no se propaga.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integración se decidirá en 2027-2028, cuando Gestión y Evaluación pasen del 12 % a su diseño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barra es el periodo de diseño (MFD) de un macroproceso en un sistema. Programación, Gestión y Evaluación se superponen en 2027-2028; Endeudamiento y Abastecimiento siguen solos hasta 2029.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Lectura: Tesorería y Abastecimiento son críticos por el orden del ciclo del gasto. GFRH está adelantado y su riesgo es la prueba integrada tardía.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flechas rojas (1 y 2) son inversiones de secuencia en el ciclo del gasto que no se resuelven con entregas parciales. Las ámbar se corrigen adelantando insumos o con versiones preliminares.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MFD de pagos se cerrarían sin la regla que habilita el pago. Habría retrabajo y no se podría probar el ciclo compromiso-devengado-pago.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compromiso y el devengado de bienes y servicios, la mayor parte del gasto corriente, se diseñan sin su documento fuente. Adelantar la OC/OS no es viable: depende de las Actuaciones preparatorias, que terminan el 31/08/2027.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ciclo presupuestario 2027 es el punto de convergencia: Formulación (14/10/2026-19/01/2027) y Aprobación (16/11/2026-05/02/2027) dependen de insumos de cuatro sistemas que terminan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otras alertas altas (ciclo presupuestario 2027) están en la diapositiva anterior. El detalle de las 19 alertas está en el Cuadro 4 del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 vínculos no hay ruta crítica; un atraso no se propaga. Antes de guardar la línea base hay que depurar duplicados (filas 141-142, 69/75), la '&lt;Tarea nueva&gt;' (81) y el Estado UCP.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Siete ajustes adelantan predecesoras, tres retrasan procesos dependientes, uno agrega una actividad y uno queda pendiente de decisión. La principal restricción de capacidad está en el CAF de Presupuesto en noviembre y diciembre de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a la UCP decisión sobre los puntos 1 a 5 y aprobación de la orden técnica 6. Con estas decisiones la integración es alcanzable sin mover el fin del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10A9BF8-103F-2EC2-7F21-76D1E1638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19" y="163348"/>
            <a:ext cx="3150709" cy="61718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F0FB871-5067-C3BC-1692-29CCBB8B0D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71" b="27434"/>
          <a:stretch>
            <a:fillRect/>
          </a:stretch>
        </p:blipFill>
        <p:spPr>
          <a:xfrm>
            <a:off x="8724207" y="163348"/>
            <a:ext cx="2498185" cy="77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026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206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431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743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18.png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22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1527048" y="2057400"/>
            <a:ext cx="9144000" cy="1417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/>
            <a:r>
              <a:rPr sz="4000" b="0" i="0">
                <a:solidFill>
                  <a:srgbClr val="004899"/>
                </a:solidFill>
                <a:latin typeface="Montserrat SemiBold"/>
              </a:rPr>
              <a:t>Integración funcional y temporal del Cronograma AFSP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30168" y="3657600"/>
            <a:ext cx="4928616" cy="0"/>
          </a:xfrm>
          <a:prstGeom prst="line">
            <a:avLst/>
          </a:prstGeom>
          <a:ln w="1270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ajada"/>
          <p:cNvSpPr txBox="1"/>
          <p:nvPr/>
        </p:nvSpPr>
        <p:spPr>
          <a:xfrm>
            <a:off x="1527048" y="376732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900" b="1" i="0">
                <a:solidFill>
                  <a:srgbClr val="E6375D"/>
                </a:solidFill>
                <a:latin typeface="Montserrat"/>
              </a:rPr>
              <a:t>Resumen ejecutivo para la Coordinación del Proyecto y la UCP</a:t>
            </a:r>
          </a:p>
        </p:txBody>
      </p:sp>
      <p:sp>
        <p:nvSpPr>
          <p:cNvPr id="5" name="Fecha"/>
          <p:cNvSpPr txBox="1"/>
          <p:nvPr/>
        </p:nvSpPr>
        <p:spPr>
          <a:xfrm>
            <a:off x="2194560" y="4315968"/>
            <a:ext cx="7799831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 i="0">
                <a:solidFill>
                  <a:srgbClr val="4B4B4D"/>
                </a:solidFill>
                <a:latin typeface="Montserrat"/>
              </a:rPr>
              <a:t>Análisis del archivo .mpp con corte al 21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El cronograma no garantiza hoy la integración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Cada sistema tiene fechas razonables; la integración entre ellos no está planificada</a:t>
            </a:r>
          </a:p>
        </p:txBody>
      </p:sp>
      <p:sp>
        <p:nvSpPr>
          <p:cNvPr id="4" name="Veredicto"/>
          <p:cNvSpPr/>
          <p:nvPr/>
        </p:nvSpPr>
        <p:spPr>
          <a:xfrm>
            <a:off x="640080" y="1691640"/>
            <a:ext cx="4892040" cy="452628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lag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0574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7432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94D4ED"/>
                </a:solidFill>
                <a:latin typeface="Montserrat"/>
              </a:rPr>
              <a:t>VEREDICTO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090672"/>
            <a:ext cx="411480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FFFFFF"/>
                </a:solidFill>
                <a:latin typeface="Montserrat SemiBold"/>
              </a:rPr>
              <a:t>Las fechas no aseguran que los siete sistemas operen integrados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434840"/>
            <a:ext cx="41148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Ninguna dependencia está registrada en el .mpp.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El ciclo del gasto se diseña en orden invertido.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El ciclo presupuestario 2027 recibe insumos tarde.</a:t>
            </a:r>
          </a:p>
        </p:txBody>
      </p:sp>
      <p:sp>
        <p:nvSpPr>
          <p:cNvPr id="9" name="Round Diagonal Corner Rectangle 8"/>
          <p:cNvSpPr/>
          <p:nvPr/>
        </p:nvSpPr>
        <p:spPr>
          <a:xfrm>
            <a:off x="5806440" y="1691640"/>
            <a:ext cx="2697480" cy="219456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080759" y="1947672"/>
            <a:ext cx="457200" cy="457200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lin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59" y="2061972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0759" y="249631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0" i="0">
                <a:solidFill>
                  <a:srgbClr val="E6375D"/>
                </a:solidFill>
                <a:latin typeface="Montserrat SemiBold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310896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B4B4D"/>
                </a:solidFill>
                <a:latin typeface="Montserrat"/>
              </a:rPr>
              <a:t>vínculos de precedencia entre 307 actividades</a:t>
            </a:r>
          </a:p>
        </p:txBody>
      </p:sp>
      <p:sp>
        <p:nvSpPr>
          <p:cNvPr id="14" name="Round Diagonal Corner Rectangle 13"/>
          <p:cNvSpPr/>
          <p:nvPr/>
        </p:nvSpPr>
        <p:spPr>
          <a:xfrm>
            <a:off x="8686800" y="1691640"/>
            <a:ext cx="2697480" cy="219456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961120" y="1947672"/>
            <a:ext cx="457200" cy="457200"/>
          </a:xfrm>
          <a:prstGeom prst="ellipse">
            <a:avLst/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projec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5420" y="2061972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961120" y="249631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0" i="0">
                <a:solidFill>
                  <a:srgbClr val="004899"/>
                </a:solidFill>
                <a:latin typeface="Montserrat Semi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10896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B4B4D"/>
                </a:solidFill>
                <a:latin typeface="Montserrat"/>
              </a:rPr>
              <a:t>inversiones de secuencia en el gasto y la contabilidad</a:t>
            </a:r>
          </a:p>
        </p:txBody>
      </p:sp>
      <p:sp>
        <p:nvSpPr>
          <p:cNvPr id="19" name="Round Diagonal Corner Rectangle 18"/>
          <p:cNvSpPr/>
          <p:nvPr/>
        </p:nvSpPr>
        <p:spPr>
          <a:xfrm>
            <a:off x="5806440" y="4023360"/>
            <a:ext cx="2697480" cy="219456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6080759" y="4279392"/>
            <a:ext cx="457200" cy="457200"/>
          </a:xfrm>
          <a:prstGeom prst="ellipse">
            <a:avLst/>
          </a:prstGeom>
          <a:solidFill>
            <a:srgbClr val="ED3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ale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059" y="4393692"/>
            <a:ext cx="2286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80759" y="482803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0" i="0">
                <a:solidFill>
                  <a:srgbClr val="ED3237"/>
                </a:solidFill>
                <a:latin typeface="Montserrat SemiBold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54406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B4B4D"/>
                </a:solidFill>
                <a:latin typeface="Montserrat"/>
              </a:rPr>
              <a:t>alertas críticas: Tesorería y Abastecimiento</a:t>
            </a:r>
          </a:p>
        </p:txBody>
      </p:sp>
      <p:sp>
        <p:nvSpPr>
          <p:cNvPr id="24" name="Round Diagonal Corner Rectangle 23"/>
          <p:cNvSpPr/>
          <p:nvPr/>
        </p:nvSpPr>
        <p:spPr>
          <a:xfrm>
            <a:off x="8686800" y="4023360"/>
            <a:ext cx="2697480" cy="219456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961120" y="4279392"/>
            <a:ext cx="457200" cy="457200"/>
          </a:xfrm>
          <a:prstGeom prst="ellipse">
            <a:avLst/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ca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5420" y="4393692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61120" y="482803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 i="0">
                <a:solidFill>
                  <a:srgbClr val="3BB4AA"/>
                </a:solidFill>
                <a:latin typeface="Montserrat SemiBold"/>
              </a:rPr>
              <a:t>28/12/2029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440680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B4B4D"/>
                </a:solidFill>
                <a:latin typeface="Montserrat"/>
              </a:rPr>
              <a:t>fin del proyecto; no cambia con los ajustes</a:t>
            </a:r>
          </a:p>
        </p:txBody>
      </p:sp>
      <p:sp>
        <p:nvSpPr>
          <p:cNvPr id="29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Fuente: Cronograma AFSP – Integrado.mpp, guardado el 21/10/2026. Fechas de diseño funcional (MFD).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Avance por macroproceso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Los catálogos están casi listos; Gestión y Evaluación recién empiezan</a:t>
            </a:r>
          </a:p>
        </p:txBody>
      </p:sp>
      <p:sp>
        <p:nvSpPr>
          <p:cNvPr id="4" name="Tarjeta Clasificadores y Catálogos"/>
          <p:cNvSpPr/>
          <p:nvPr/>
        </p:nvSpPr>
        <p:spPr>
          <a:xfrm>
            <a:off x="777240" y="1783080"/>
            <a:ext cx="2514600" cy="416052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boo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103120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2788920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0" i="0">
                <a:solidFill>
                  <a:srgbClr val="FFFFFF"/>
                </a:solidFill>
                <a:latin typeface="Montserrat SemiBold"/>
              </a:rPr>
              <a:t>92 %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0332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Clasificadores y Catálogos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52628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"/>
              </a:rPr>
              <a:t>sep 2023 – oct 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9377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117 actividades · 7 sistemas</a:t>
            </a:r>
          </a:p>
        </p:txBody>
      </p:sp>
      <p:sp>
        <p:nvSpPr>
          <p:cNvPr id="10" name="Tarjeta Programación"/>
          <p:cNvSpPr/>
          <p:nvPr/>
        </p:nvSpPr>
        <p:spPr>
          <a:xfrm>
            <a:off x="3520440" y="1783080"/>
            <a:ext cx="2514600" cy="416052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009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ch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992" y="2103120"/>
            <a:ext cx="548640" cy="548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03320" y="2788920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0" i="0">
                <a:solidFill>
                  <a:srgbClr val="FFFFFF"/>
                </a:solidFill>
                <a:latin typeface="Montserrat SemiBold"/>
              </a:rPr>
              <a:t>44 %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70332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Programación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52628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"/>
              </a:rPr>
              <a:t>sep 2025 – may 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49377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26 actividades · 6 sistemas</a:t>
            </a:r>
          </a:p>
        </p:txBody>
      </p:sp>
      <p:sp>
        <p:nvSpPr>
          <p:cNvPr id="16" name="Tarjeta Gestión"/>
          <p:cNvSpPr/>
          <p:nvPr/>
        </p:nvSpPr>
        <p:spPr>
          <a:xfrm>
            <a:off x="6263640" y="1783080"/>
            <a:ext cx="2514600" cy="416052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co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192" y="2103120"/>
            <a:ext cx="548640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46520" y="2788920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0" i="0">
                <a:solidFill>
                  <a:srgbClr val="FFFFFF"/>
                </a:solidFill>
                <a:latin typeface="Montserrat SemiBold"/>
              </a:rPr>
              <a:t>12 %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0332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Gestión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2628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"/>
              </a:rPr>
              <a:t>oct 2025 – dic 2029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377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133 actividades · 7 sistemas</a:t>
            </a:r>
          </a:p>
        </p:txBody>
      </p:sp>
      <p:sp>
        <p:nvSpPr>
          <p:cNvPr id="22" name="Tarjeta Evaluación"/>
          <p:cNvSpPr/>
          <p:nvPr/>
        </p:nvSpPr>
        <p:spPr>
          <a:xfrm>
            <a:off x="9006840" y="1783080"/>
            <a:ext cx="2514600" cy="416052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cli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2" y="2103120"/>
            <a:ext cx="548640" cy="548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89719" y="2788920"/>
            <a:ext cx="21488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0" i="0">
                <a:solidFill>
                  <a:srgbClr val="FFFFFF"/>
                </a:solidFill>
                <a:latin typeface="Montserrat SemiBold"/>
              </a:rPr>
              <a:t>12 %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19" y="3703320"/>
            <a:ext cx="214884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Evaluación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4526280"/>
            <a:ext cx="21488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"/>
              </a:rPr>
              <a:t>mar 2026 – sep 2028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493776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22 actividades · 3 sistemas</a:t>
            </a:r>
          </a:p>
        </p:txBody>
      </p:sp>
      <p:sp>
        <p:nvSpPr>
          <p:cNvPr id="28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Avance ponderado por duración de las actividades operativas (sin tareas resumen). Fuente: Cronograma AFSP – Integrado.mpp, 21/10/2026.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Cronograma integrado por sistema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La integración se juega en 2027–2028; Endeudamiento lleva el fin del proyecto a 2029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1581912"/>
            <a:ext cx="256032" cy="128016"/>
          </a:xfrm>
          <a:prstGeom prst="roundRect">
            <a:avLst>
              <a:gd name="adj" fmla="val 30000"/>
            </a:avLst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660903" y="1517904"/>
            <a:ext cx="2368296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4B4B4D"/>
                </a:solidFill>
                <a:latin typeface="Montserrat"/>
              </a:rPr>
              <a:t>Clasificadores y Catálogos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1581912"/>
            <a:ext cx="256032" cy="128016"/>
          </a:xfrm>
          <a:prstGeom prst="roundRect">
            <a:avLst>
              <a:gd name="adj" fmla="val 30000"/>
            </a:avLst>
          </a:prstGeom>
          <a:solidFill>
            <a:srgbClr val="009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32704" y="1517904"/>
            <a:ext cx="115214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4B4B4D"/>
                </a:solidFill>
                <a:latin typeface="Montserrat"/>
              </a:rPr>
              <a:t>Programación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59168" y="1581912"/>
            <a:ext cx="256032" cy="128016"/>
          </a:xfrm>
          <a:prstGeom prst="roundRect">
            <a:avLst>
              <a:gd name="adj" fmla="val 3000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88352" y="1517904"/>
            <a:ext cx="71780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4B4B4D"/>
                </a:solidFill>
                <a:latin typeface="Montserrat"/>
              </a:rPr>
              <a:t>Gestión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80475" y="1581912"/>
            <a:ext cx="256032" cy="128016"/>
          </a:xfrm>
          <a:prstGeom prst="roundRect">
            <a:avLst>
              <a:gd name="adj" fmla="val 30000"/>
            </a:avLst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09659" y="1517904"/>
            <a:ext cx="978407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4B4B4D"/>
                </a:solidFill>
                <a:latin typeface="Montserrat"/>
              </a:rPr>
              <a:t>Evaluación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2103120"/>
            <a:ext cx="0" cy="3913632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19700" y="184708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2023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0036" y="2103120"/>
            <a:ext cx="0" cy="3913632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41629" y="184708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2024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71965" y="2103120"/>
            <a:ext cx="0" cy="3913632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59945" y="184708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2025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290281" y="2103120"/>
            <a:ext cx="0" cy="3913632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78262" y="184708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2026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08598" y="2103120"/>
            <a:ext cx="0" cy="3913632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96578" y="184708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2027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926914" y="2103120"/>
            <a:ext cx="0" cy="3913632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18507" y="184708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2028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248843" y="2103120"/>
            <a:ext cx="0" cy="3913632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536823" y="184708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2029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567160" y="2103120"/>
            <a:ext cx="0" cy="3913632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" y="2176272"/>
            <a:ext cx="10927080" cy="5486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2176272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04899"/>
                </a:solidFill>
                <a:latin typeface="Montserrat"/>
              </a:rPr>
              <a:t>Presupuesto</a:t>
            </a:r>
          </a:p>
        </p:txBody>
      </p:sp>
      <p:sp>
        <p:nvSpPr>
          <p:cNvPr id="29" name="Presupuesto Clasificadores y Catálogos"/>
          <p:cNvSpPr/>
          <p:nvPr/>
        </p:nvSpPr>
        <p:spPr>
          <a:xfrm>
            <a:off x="3361090" y="2231136"/>
            <a:ext cx="4568960" cy="91440"/>
          </a:xfrm>
          <a:prstGeom prst="roundRect">
            <a:avLst>
              <a:gd name="adj" fmla="val 50000"/>
            </a:avLst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resupuesto Programación"/>
          <p:cNvSpPr/>
          <p:nvPr/>
        </p:nvSpPr>
        <p:spPr>
          <a:xfrm>
            <a:off x="7189626" y="2345436"/>
            <a:ext cx="1014923" cy="91440"/>
          </a:xfrm>
          <a:prstGeom prst="roundRect">
            <a:avLst>
              <a:gd name="adj" fmla="val 50000"/>
            </a:avLst>
          </a:prstGeom>
          <a:solidFill>
            <a:srgbClr val="009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resupuesto Gestión"/>
          <p:cNvSpPr/>
          <p:nvPr/>
        </p:nvSpPr>
        <p:spPr>
          <a:xfrm>
            <a:off x="7897544" y="2459736"/>
            <a:ext cx="884897" cy="91440"/>
          </a:xfrm>
          <a:prstGeom prst="roundRect">
            <a:avLst>
              <a:gd name="adj" fmla="val 5000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Presupuesto Evaluación"/>
          <p:cNvSpPr/>
          <p:nvPr/>
        </p:nvSpPr>
        <p:spPr>
          <a:xfrm>
            <a:off x="8605462" y="2574036"/>
            <a:ext cx="621234" cy="91440"/>
          </a:xfrm>
          <a:prstGeom prst="roundRect">
            <a:avLst>
              <a:gd name="adj" fmla="val 50000"/>
            </a:avLst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2724912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04899"/>
                </a:solidFill>
                <a:latin typeface="Montserrat"/>
              </a:rPr>
              <a:t>Inversiones</a:t>
            </a:r>
          </a:p>
        </p:txBody>
      </p:sp>
      <p:sp>
        <p:nvSpPr>
          <p:cNvPr id="34" name="Inversiones Clasificadores y Catálogos"/>
          <p:cNvSpPr/>
          <p:nvPr/>
        </p:nvSpPr>
        <p:spPr>
          <a:xfrm>
            <a:off x="7102942" y="2779776"/>
            <a:ext cx="581504" cy="91440"/>
          </a:xfrm>
          <a:prstGeom prst="roundRect">
            <a:avLst>
              <a:gd name="adj" fmla="val 50000"/>
            </a:avLst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Inversiones Programación"/>
          <p:cNvSpPr/>
          <p:nvPr/>
        </p:nvSpPr>
        <p:spPr>
          <a:xfrm>
            <a:off x="6254163" y="2894076"/>
            <a:ext cx="2004563" cy="91440"/>
          </a:xfrm>
          <a:prstGeom prst="roundRect">
            <a:avLst>
              <a:gd name="adj" fmla="val 50000"/>
            </a:avLst>
          </a:prstGeom>
          <a:solidFill>
            <a:srgbClr val="009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Inversiones Gestión"/>
          <p:cNvSpPr/>
          <p:nvPr/>
        </p:nvSpPr>
        <p:spPr>
          <a:xfrm>
            <a:off x="7619433" y="3008376"/>
            <a:ext cx="859614" cy="91440"/>
          </a:xfrm>
          <a:prstGeom prst="roundRect">
            <a:avLst>
              <a:gd name="adj" fmla="val 5000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Inversiones Evaluación"/>
          <p:cNvSpPr/>
          <p:nvPr/>
        </p:nvSpPr>
        <p:spPr>
          <a:xfrm>
            <a:off x="8374305" y="3122676"/>
            <a:ext cx="653740" cy="91440"/>
          </a:xfrm>
          <a:prstGeom prst="roundRect">
            <a:avLst>
              <a:gd name="adj" fmla="val 50000"/>
            </a:avLst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40080" y="3273552"/>
            <a:ext cx="10927080" cy="5486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3273552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04899"/>
                </a:solidFill>
                <a:latin typeface="Montserrat"/>
              </a:rPr>
              <a:t>Abastecimiento</a:t>
            </a:r>
          </a:p>
        </p:txBody>
      </p:sp>
      <p:sp>
        <p:nvSpPr>
          <p:cNvPr id="40" name="Abastecimiento Clasificadores y Catálogos"/>
          <p:cNvSpPr/>
          <p:nvPr/>
        </p:nvSpPr>
        <p:spPr>
          <a:xfrm>
            <a:off x="3371925" y="3328416"/>
            <a:ext cx="3517918" cy="91440"/>
          </a:xfrm>
          <a:prstGeom prst="roundRect">
            <a:avLst>
              <a:gd name="adj" fmla="val 50000"/>
            </a:avLst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Abastecimiento Programación"/>
          <p:cNvSpPr/>
          <p:nvPr/>
        </p:nvSpPr>
        <p:spPr>
          <a:xfrm>
            <a:off x="7214909" y="3442716"/>
            <a:ext cx="870450" cy="91440"/>
          </a:xfrm>
          <a:prstGeom prst="roundRect">
            <a:avLst>
              <a:gd name="adj" fmla="val 50000"/>
            </a:avLst>
          </a:prstGeom>
          <a:solidFill>
            <a:srgbClr val="009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Abastecimiento Gestión"/>
          <p:cNvSpPr/>
          <p:nvPr/>
        </p:nvSpPr>
        <p:spPr>
          <a:xfrm>
            <a:off x="5957993" y="3557016"/>
            <a:ext cx="5533317" cy="91440"/>
          </a:xfrm>
          <a:prstGeom prst="roundRect">
            <a:avLst>
              <a:gd name="adj" fmla="val 5000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7240" y="3822191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04899"/>
                </a:solidFill>
                <a:latin typeface="Montserrat"/>
              </a:rPr>
              <a:t>GFRH</a:t>
            </a:r>
          </a:p>
        </p:txBody>
      </p:sp>
      <p:sp>
        <p:nvSpPr>
          <p:cNvPr id="44" name="GFRH Clasificadores y Catálogos"/>
          <p:cNvSpPr/>
          <p:nvPr/>
        </p:nvSpPr>
        <p:spPr>
          <a:xfrm>
            <a:off x="6153032" y="3877055"/>
            <a:ext cx="1441118" cy="91440"/>
          </a:xfrm>
          <a:prstGeom prst="roundRect">
            <a:avLst>
              <a:gd name="adj" fmla="val 50000"/>
            </a:avLst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GFRH Programación"/>
          <p:cNvSpPr/>
          <p:nvPr/>
        </p:nvSpPr>
        <p:spPr>
          <a:xfrm>
            <a:off x="5900204" y="3991355"/>
            <a:ext cx="971581" cy="91440"/>
          </a:xfrm>
          <a:prstGeom prst="roundRect">
            <a:avLst>
              <a:gd name="adj" fmla="val 50000"/>
            </a:avLst>
          </a:prstGeom>
          <a:solidFill>
            <a:srgbClr val="009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GFRH Gestión"/>
          <p:cNvSpPr/>
          <p:nvPr/>
        </p:nvSpPr>
        <p:spPr>
          <a:xfrm>
            <a:off x="6051901" y="4105655"/>
            <a:ext cx="1220797" cy="91440"/>
          </a:xfrm>
          <a:prstGeom prst="roundRect">
            <a:avLst>
              <a:gd name="adj" fmla="val 5000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40080" y="4370831"/>
            <a:ext cx="10927080" cy="5486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7240" y="4370831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04899"/>
                </a:solidFill>
                <a:latin typeface="Montserrat"/>
              </a:rPr>
              <a:t>Tesorería</a:t>
            </a:r>
          </a:p>
        </p:txBody>
      </p:sp>
      <p:sp>
        <p:nvSpPr>
          <p:cNvPr id="49" name="Tesorería Clasificadores y Catálogos"/>
          <p:cNvSpPr/>
          <p:nvPr/>
        </p:nvSpPr>
        <p:spPr>
          <a:xfrm>
            <a:off x="3270794" y="4425695"/>
            <a:ext cx="3893548" cy="91440"/>
          </a:xfrm>
          <a:prstGeom prst="roundRect">
            <a:avLst>
              <a:gd name="adj" fmla="val 50000"/>
            </a:avLst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sorería Programación"/>
          <p:cNvSpPr/>
          <p:nvPr/>
        </p:nvSpPr>
        <p:spPr>
          <a:xfrm>
            <a:off x="6557556" y="4539995"/>
            <a:ext cx="2914743" cy="91440"/>
          </a:xfrm>
          <a:prstGeom prst="roundRect">
            <a:avLst>
              <a:gd name="adj" fmla="val 50000"/>
            </a:avLst>
          </a:prstGeom>
          <a:solidFill>
            <a:srgbClr val="009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sorería Gestión"/>
          <p:cNvSpPr/>
          <p:nvPr/>
        </p:nvSpPr>
        <p:spPr>
          <a:xfrm>
            <a:off x="7027094" y="4654295"/>
            <a:ext cx="2445206" cy="91440"/>
          </a:xfrm>
          <a:prstGeom prst="roundRect">
            <a:avLst>
              <a:gd name="adj" fmla="val 5000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7240" y="4919472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04899"/>
                </a:solidFill>
                <a:latin typeface="Montserrat"/>
              </a:rPr>
              <a:t>Endeudamiento</a:t>
            </a:r>
          </a:p>
        </p:txBody>
      </p:sp>
      <p:sp>
        <p:nvSpPr>
          <p:cNvPr id="53" name="Endeudamiento Clasificadores y Catálogos"/>
          <p:cNvSpPr/>
          <p:nvPr/>
        </p:nvSpPr>
        <p:spPr>
          <a:xfrm>
            <a:off x="3270794" y="4974336"/>
            <a:ext cx="4334191" cy="91440"/>
          </a:xfrm>
          <a:prstGeom prst="roundRect">
            <a:avLst>
              <a:gd name="adj" fmla="val 50000"/>
            </a:avLst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Endeudamiento Programación"/>
          <p:cNvSpPr/>
          <p:nvPr/>
        </p:nvSpPr>
        <p:spPr>
          <a:xfrm>
            <a:off x="6944022" y="5088636"/>
            <a:ext cx="765707" cy="91440"/>
          </a:xfrm>
          <a:prstGeom prst="roundRect">
            <a:avLst>
              <a:gd name="adj" fmla="val 50000"/>
            </a:avLst>
          </a:prstGeom>
          <a:solidFill>
            <a:srgbClr val="009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Endeudamiento Gestión"/>
          <p:cNvSpPr/>
          <p:nvPr/>
        </p:nvSpPr>
        <p:spPr>
          <a:xfrm>
            <a:off x="7496631" y="5202936"/>
            <a:ext cx="4056081" cy="91440"/>
          </a:xfrm>
          <a:prstGeom prst="roundRect">
            <a:avLst>
              <a:gd name="adj" fmla="val 5000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640080" y="5468112"/>
            <a:ext cx="10927080" cy="54864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777240" y="5468112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004899"/>
                </a:solidFill>
                <a:latin typeface="Montserrat"/>
              </a:rPr>
              <a:t>Contabilidad</a:t>
            </a:r>
          </a:p>
        </p:txBody>
      </p:sp>
      <p:sp>
        <p:nvSpPr>
          <p:cNvPr id="58" name="Contabilidad Clasificadores y Catálogos"/>
          <p:cNvSpPr/>
          <p:nvPr/>
        </p:nvSpPr>
        <p:spPr>
          <a:xfrm>
            <a:off x="3245512" y="5522975"/>
            <a:ext cx="5421351" cy="91440"/>
          </a:xfrm>
          <a:prstGeom prst="roundRect">
            <a:avLst>
              <a:gd name="adj" fmla="val 50000"/>
            </a:avLst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Contabilidad Gestión"/>
          <p:cNvSpPr/>
          <p:nvPr/>
        </p:nvSpPr>
        <p:spPr>
          <a:xfrm>
            <a:off x="6059124" y="5751575"/>
            <a:ext cx="3824924" cy="91440"/>
          </a:xfrm>
          <a:prstGeom prst="roundRect">
            <a:avLst>
              <a:gd name="adj" fmla="val 5000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Contabilidad Evaluación"/>
          <p:cNvSpPr/>
          <p:nvPr/>
        </p:nvSpPr>
        <p:spPr>
          <a:xfrm>
            <a:off x="6546721" y="5865875"/>
            <a:ext cx="3315656" cy="91440"/>
          </a:xfrm>
          <a:prstGeom prst="roundRect">
            <a:avLst>
              <a:gd name="adj" fmla="val 50000"/>
            </a:avLst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1" name="Connector 60"/>
          <p:cNvCxnSpPr/>
          <p:nvPr/>
        </p:nvCxnSpPr>
        <p:spPr>
          <a:xfrm>
            <a:off x="7348546" y="2103120"/>
            <a:ext cx="0" cy="3959352"/>
          </a:xfrm>
          <a:prstGeom prst="line">
            <a:avLst/>
          </a:prstGeom>
          <a:ln w="15875">
            <a:solidFill>
              <a:srgbClr val="E6375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885506" y="60899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Corte del archivo: </a:t>
            </a:r>
            <a:r>
              <a:rPr sz="1100" b="1" i="0">
                <a:solidFill>
                  <a:srgbClr val="E6375D"/>
                </a:solidFill>
                <a:latin typeface="Montserrat"/>
              </a:rPr>
              <a:t>21/10/2026</a:t>
            </a:r>
          </a:p>
        </p:txBody>
      </p:sp>
      <p:sp>
        <p:nvSpPr>
          <p:cNvPr id="63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Fuente: Cronograma AFSP – Integrado.mpp, guardado el 21/10/2026. Fechas de diseño funcional (MFD).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Los siete sistemas en una mirada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Dos sistemas en estado crítico y tres en alto riesgo de integración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1109960" cy="4572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00200"/>
                <a:gridCol w="1691640"/>
                <a:gridCol w="1691640"/>
                <a:gridCol w="1691640"/>
                <a:gridCol w="1691640"/>
                <a:gridCol w="274320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Sistema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Programación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Gestión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Evaluación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Catálogos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Estado de integración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4899"/>
                          </a:solidFill>
                          <a:latin typeface="Montserrat"/>
                        </a:rPr>
                        <a:t>Presupuesto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sep 2026 – jun 2027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12 %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mar – nov 2027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0 %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oct 2027 – mar 2028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0 %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oct 2023 – mar 2027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89 %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5BB47"/>
                          </a:solidFill>
                          <a:latin typeface="Montserrat"/>
                        </a:rPr>
                        <a:t>● </a:t>
                      </a:r>
                      <a:r>
                        <a:rPr sz="1100" b="1">
                          <a:solidFill>
                            <a:srgbClr val="4B4B4D"/>
                          </a:solidFill>
                          <a:latin typeface="Montserrat"/>
                        </a:rPr>
                        <a:t>Alta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B4B4D"/>
                          </a:solidFill>
                          <a:latin typeface="Montserrat"/>
                        </a:rPr>
                        <a:t>Metas y clasificadores llegan tarde a la Formulación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4899"/>
                          </a:solidFill>
                          <a:latin typeface="Montserrat"/>
                        </a:rPr>
                        <a:t>Inversiones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dic 2025 – jun 2027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47 %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ene – ago 2027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0 %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ago 2027 – ene 2028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0 %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ago 2026 – ene 2027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22 %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5BB47"/>
                          </a:solidFill>
                          <a:latin typeface="Montserrat"/>
                        </a:rPr>
                        <a:t>● </a:t>
                      </a:r>
                      <a:r>
                        <a:rPr sz="1100" b="1">
                          <a:solidFill>
                            <a:srgbClr val="4B4B4D"/>
                          </a:solidFill>
                          <a:latin typeface="Montserrat"/>
                        </a:rPr>
                        <a:t>Alta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B4B4D"/>
                          </a:solidFill>
                          <a:latin typeface="Montserrat"/>
                        </a:rPr>
                        <a:t>PMI en StandBy; formulación por proyecto desfasada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4899"/>
                          </a:solidFill>
                          <a:latin typeface="Montserrat"/>
                        </a:rPr>
                        <a:t>Abastecimiento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sep 2026 – may 2027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44 %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oct 2025 – dic 2029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13 %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B6B6E"/>
                          </a:solidFill>
                          <a:latin typeface="Montserrat"/>
                        </a:rPr>
                        <a:t>Sin procesos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oct 2023 – jun 2026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100 %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D3237"/>
                          </a:solidFill>
                          <a:latin typeface="Montserrat"/>
                        </a:rPr>
                        <a:t>● </a:t>
                      </a:r>
                      <a:r>
                        <a:rPr sz="1100" b="1">
                          <a:solidFill>
                            <a:srgbClr val="4B4B4D"/>
                          </a:solidFill>
                          <a:latin typeface="Montserrat"/>
                        </a:rPr>
                        <a:t>Crítica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B4B4D"/>
                          </a:solidFill>
                          <a:latin typeface="Montserrat"/>
                        </a:rPr>
                        <a:t>OC/OS y Conformidad después de la ejecución del gasto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4899"/>
                          </a:solidFill>
                          <a:latin typeface="Montserrat"/>
                        </a:rPr>
                        <a:t>GFRH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sep 2025 – jun 2026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100 %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oct 2025 – sep 2026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100 %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B6B6E"/>
                          </a:solidFill>
                          <a:latin typeface="Montserrat"/>
                        </a:rPr>
                        <a:t>Sin procesos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nov 2025 – dic 2026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70 %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3BB4AA"/>
                          </a:solidFill>
                          <a:latin typeface="Montserrat"/>
                        </a:rPr>
                        <a:t>● </a:t>
                      </a:r>
                      <a:r>
                        <a:rPr sz="1100" b="1">
                          <a:solidFill>
                            <a:srgbClr val="4B4B4D"/>
                          </a:solidFill>
                          <a:latin typeface="Montserrat"/>
                        </a:rPr>
                        <a:t>Baja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B4B4D"/>
                          </a:solidFill>
                          <a:latin typeface="Montserrat"/>
                        </a:rPr>
                        <a:t>Concluido; la prueba integrada llega recién en 2027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4899"/>
                          </a:solidFill>
                          <a:latin typeface="Montserrat"/>
                        </a:rPr>
                        <a:t>Tesorería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mar 2026 – may 2028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43 %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jul 2026 – may 2028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9 %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B6B6E"/>
                          </a:solidFill>
                          <a:latin typeface="Montserrat"/>
                        </a:rPr>
                        <a:t>Sin procesos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sep 2023 – ago 2026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100 %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ED3237"/>
                          </a:solidFill>
                          <a:latin typeface="Montserrat"/>
                        </a:rPr>
                        <a:t>● </a:t>
                      </a:r>
                      <a:r>
                        <a:rPr sz="1100" b="1">
                          <a:solidFill>
                            <a:srgbClr val="4B4B4D"/>
                          </a:solidFill>
                          <a:latin typeface="Montserrat"/>
                        </a:rPr>
                        <a:t>Crítica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B4B4D"/>
                          </a:solidFill>
                          <a:latin typeface="Montserrat"/>
                        </a:rPr>
                        <a:t>Cuota de pago después de la Gestión de pagos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4899"/>
                          </a:solidFill>
                          <a:latin typeface="Montserrat"/>
                        </a:rPr>
                        <a:t>Endeudamiento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jul 2026 – ene 2027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57 %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dic 2026 – dic 2029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0 %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B6B6E"/>
                          </a:solidFill>
                          <a:latin typeface="Montserrat"/>
                        </a:rPr>
                        <a:t>Sin procesos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sep 2023 – dic 2026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97 %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0093F8"/>
                          </a:solidFill>
                          <a:latin typeface="Montserrat"/>
                        </a:rPr>
                        <a:t>● </a:t>
                      </a:r>
                      <a:r>
                        <a:rPr sz="1100" b="1">
                          <a:solidFill>
                            <a:srgbClr val="4B4B4D"/>
                          </a:solidFill>
                          <a:latin typeface="Montserrat"/>
                        </a:rPr>
                        <a:t>Media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B4B4D"/>
                          </a:solidFill>
                          <a:latin typeface="Montserrat"/>
                        </a:rPr>
                        <a:t>Insumos a la Formulación 10 días tarde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4899"/>
                          </a:solidFill>
                          <a:latin typeface="Montserrat"/>
                        </a:rPr>
                        <a:t>Contabilidad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6B6B6E"/>
                          </a:solidFill>
                          <a:latin typeface="Montserrat"/>
                        </a:rPr>
                        <a:t>Sin procesos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oct 2025 – sep 2028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72 %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mar 2026 – sep 2028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18 %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4B4B4D"/>
                          </a:solidFill>
                          <a:latin typeface="Montserrat"/>
                        </a:rPr>
                        <a:t>sep 2023 – oct 2027</a:t>
                      </a:r>
                    </a:p>
                    <a:p>
                      <a:pPr algn="l"/>
                      <a:r>
                        <a:rPr sz="1000" b="1">
                          <a:solidFill>
                            <a:srgbClr val="004899"/>
                          </a:solidFill>
                          <a:latin typeface="Montserrat"/>
                        </a:rPr>
                        <a:t>94 %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F5BB47"/>
                          </a:solidFill>
                          <a:latin typeface="Montserrat"/>
                        </a:rPr>
                        <a:t>● </a:t>
                      </a:r>
                      <a:r>
                        <a:rPr sz="1100" b="1">
                          <a:solidFill>
                            <a:srgbClr val="4B4B4D"/>
                          </a:solidFill>
                          <a:latin typeface="Montserrat"/>
                        </a:rPr>
                        <a:t>Alta</a:t>
                      </a:r>
                    </a:p>
                    <a:p>
                      <a:pPr algn="l"/>
                      <a:r>
                        <a:rPr sz="950" b="0">
                          <a:solidFill>
                            <a:srgbClr val="4B4B4D"/>
                          </a:solidFill>
                          <a:latin typeface="Montserrat"/>
                        </a:rPr>
                        <a:t>Cierres antes que la ejecución; motor sin actualizar desde 2028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Fechas de inicio y fin del diseño (MFD) por macroproceso; en negrita, el avance ponderado. Fuente: Cronograma AFSP – Integrado.mpp, 21/10/2026.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Cómo se conectan los macroprocesos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Tres dependencias se invierten: el receptor se diseña antes que su insumo</a:t>
            </a:r>
          </a:p>
        </p:txBody>
      </p:sp>
      <p:sp>
        <p:nvSpPr>
          <p:cNvPr id="4" name="Round Diagonal Corner Rectangle 3"/>
          <p:cNvSpPr/>
          <p:nvPr/>
        </p:nvSpPr>
        <p:spPr>
          <a:xfrm>
            <a:off x="640080" y="1737360"/>
            <a:ext cx="6675120" cy="77724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EEF1F5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0">
                <a:solidFill>
                  <a:srgbClr val="004899"/>
                </a:solidFill>
                <a:latin typeface="Montserrat SemiBold"/>
              </a:rPr>
              <a:t>Clasificadores y Catálogos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0552"/>
            <a:ext cx="6675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92 % · los siete sistemas · hasta oct 2027</a:t>
            </a:r>
          </a:p>
        </p:txBody>
      </p:sp>
      <p:sp>
        <p:nvSpPr>
          <p:cNvPr id="7" name="Round Diagonal Corner Rectangle 6"/>
          <p:cNvSpPr/>
          <p:nvPr/>
        </p:nvSpPr>
        <p:spPr>
          <a:xfrm>
            <a:off x="640080" y="3246120"/>
            <a:ext cx="1920240" cy="9601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9050">
            <a:solidFill>
              <a:srgbClr val="00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341071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0">
                <a:solidFill>
                  <a:srgbClr val="004899"/>
                </a:solidFill>
                <a:latin typeface="Montserrat SemiBold"/>
              </a:rPr>
              <a:t>Programación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9475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44 % · hasta may 2028</a:t>
            </a:r>
          </a:p>
        </p:txBody>
      </p:sp>
      <p:sp>
        <p:nvSpPr>
          <p:cNvPr id="10" name="Round Diagonal Corner Rectangle 9"/>
          <p:cNvSpPr/>
          <p:nvPr/>
        </p:nvSpPr>
        <p:spPr>
          <a:xfrm>
            <a:off x="3017520" y="3246120"/>
            <a:ext cx="1920240" cy="9601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9050">
            <a:solidFill>
              <a:srgbClr val="00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17520" y="341071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0">
                <a:solidFill>
                  <a:srgbClr val="004899"/>
                </a:solidFill>
                <a:latin typeface="Montserrat SemiBold"/>
              </a:rPr>
              <a:t>Gestión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79475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12 % · hasta dic 2029</a:t>
            </a:r>
          </a:p>
        </p:txBody>
      </p:sp>
      <p:sp>
        <p:nvSpPr>
          <p:cNvPr id="13" name="Round Diagonal Corner Rectangle 12"/>
          <p:cNvSpPr/>
          <p:nvPr/>
        </p:nvSpPr>
        <p:spPr>
          <a:xfrm>
            <a:off x="5394960" y="3246120"/>
            <a:ext cx="1920240" cy="960120"/>
          </a:xfrm>
          <a:prstGeom prst="round2DiagRect">
            <a:avLst>
              <a:gd name="adj1" fmla="val 18000"/>
              <a:gd name="adj2" fmla="val 0"/>
            </a:avLst>
          </a:prstGeom>
          <a:solidFill>
            <a:srgbClr val="FFFFFF"/>
          </a:solidFill>
          <a:ln w="19050">
            <a:solidFill>
              <a:srgbClr val="00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394960" y="341071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500" b="0" i="0">
                <a:solidFill>
                  <a:srgbClr val="004899"/>
                </a:solidFill>
                <a:latin typeface="Montserrat SemiBold"/>
              </a:rPr>
              <a:t>Evaluación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794759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0" i="0">
                <a:solidFill>
                  <a:srgbClr val="6B6B6E"/>
                </a:solidFill>
                <a:latin typeface="Montserrat"/>
              </a:rPr>
              <a:t>12 % · hasta sep 2028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00200" y="2514600"/>
            <a:ext cx="0" cy="713232"/>
          </a:xfrm>
          <a:prstGeom prst="line">
            <a:avLst/>
          </a:prstGeom>
          <a:ln w="31750">
            <a:solidFill>
              <a:srgbClr val="F5BB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77639" y="2514600"/>
            <a:ext cx="0" cy="713232"/>
          </a:xfrm>
          <a:prstGeom prst="line">
            <a:avLst/>
          </a:prstGeom>
          <a:ln w="19050">
            <a:solidFill>
              <a:srgbClr val="D0D5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55080" y="2514600"/>
            <a:ext cx="0" cy="713232"/>
          </a:xfrm>
          <a:prstGeom prst="line">
            <a:avLst/>
          </a:prstGeom>
          <a:ln w="19050">
            <a:solidFill>
              <a:srgbClr val="D0D5D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560320" y="3730752"/>
            <a:ext cx="438912" cy="0"/>
          </a:xfrm>
          <a:prstGeom prst="line">
            <a:avLst/>
          </a:prstGeom>
          <a:ln w="31750">
            <a:solidFill>
              <a:srgbClr val="ED32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3730752"/>
            <a:ext cx="438912" cy="0"/>
          </a:xfrm>
          <a:prstGeom prst="line">
            <a:avLst/>
          </a:prstGeom>
          <a:ln w="31750">
            <a:solidFill>
              <a:srgbClr val="F5BB4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69080" y="27432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B6E"/>
                </a:solidFill>
                <a:latin typeface="Montserrat"/>
              </a:rPr>
              <a:t>D14 · +30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6B6B6E"/>
                </a:solidFill>
                <a:latin typeface="Montserrat"/>
              </a:rPr>
              <a:t>D19 · +6 d</a:t>
            </a:r>
          </a:p>
        </p:txBody>
      </p:sp>
      <p:sp>
        <p:nvSpPr>
          <p:cNvPr id="23" name="Oval 22"/>
          <p:cNvSpPr/>
          <p:nvPr/>
        </p:nvSpPr>
        <p:spPr>
          <a:xfrm>
            <a:off x="1078992" y="2688336"/>
            <a:ext cx="365760" cy="365760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B4B4D"/>
                </a:solidFill>
                <a:latin typeface="Montserrat SemiBold"/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2596896" y="3218688"/>
            <a:ext cx="365760" cy="365760"/>
          </a:xfrm>
          <a:prstGeom prst="ellipse">
            <a:avLst/>
          </a:prstGeom>
          <a:solidFill>
            <a:srgbClr val="ED3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4974336" y="3218688"/>
            <a:ext cx="365760" cy="365760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B4B4D"/>
                </a:solidFill>
                <a:latin typeface="Montserrat SemiBold"/>
              </a:rPr>
              <a:t>3</a:t>
            </a:r>
          </a:p>
        </p:txBody>
      </p:sp>
      <p:sp>
        <p:nvSpPr>
          <p:cNvPr id="26" name="Oval 25"/>
          <p:cNvSpPr/>
          <p:nvPr/>
        </p:nvSpPr>
        <p:spPr>
          <a:xfrm>
            <a:off x="3794759" y="4343400"/>
            <a:ext cx="365760" cy="365760"/>
          </a:xfrm>
          <a:prstGeom prst="ellipse">
            <a:avLst/>
          </a:prstGeom>
          <a:solidFill>
            <a:srgbClr val="ED3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1417320" y="4343400"/>
            <a:ext cx="365760" cy="365760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B4B4D"/>
                </a:solidFill>
                <a:latin typeface="Montserrat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44074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6B6B6E"/>
                </a:solidFill>
                <a:latin typeface="Montserrat"/>
              </a:rPr>
              <a:t>dentro de Programación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440740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6B6B6E"/>
                </a:solidFill>
                <a:latin typeface="Montserrat"/>
              </a:rPr>
              <a:t>dentro de Gestión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1520" y="5349240"/>
            <a:ext cx="365760" cy="0"/>
          </a:xfrm>
          <a:prstGeom prst="line">
            <a:avLst/>
          </a:prstGeom>
          <a:ln w="31750">
            <a:solidFill>
              <a:srgbClr val="E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88720" y="52303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4B4B4D"/>
                </a:solidFill>
                <a:latin typeface="Montserrat"/>
              </a:rPr>
              <a:t>Crítica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560320" y="5349240"/>
            <a:ext cx="365759" cy="0"/>
          </a:xfrm>
          <a:prstGeom prst="line">
            <a:avLst/>
          </a:prstGeom>
          <a:ln w="31750">
            <a:solidFill>
              <a:srgbClr val="F5B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017520" y="52303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4B4B4D"/>
                </a:solidFill>
                <a:latin typeface="Montserrat"/>
              </a:rPr>
              <a:t>Alta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389120" y="5349240"/>
            <a:ext cx="365760" cy="0"/>
          </a:xfrm>
          <a:prstGeom prst="line">
            <a:avLst/>
          </a:prstGeom>
          <a:ln w="31750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846320" y="52303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4B4B4D"/>
                </a:solidFill>
                <a:latin typeface="Montserrat"/>
              </a:rPr>
              <a:t>Media o baja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23560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6B6B6E"/>
                </a:solidFill>
                <a:latin typeface="Montserrat"/>
              </a:rPr>
              <a:t>Todas las dependencias son propuestas: el .mpp no tiene vínculos registrados. Brechas en días calendario.</a:t>
            </a:r>
          </a:p>
        </p:txBody>
      </p:sp>
      <p:sp>
        <p:nvSpPr>
          <p:cNvPr id="37" name="Round Diagonal Corner Rectangle 36"/>
          <p:cNvSpPr/>
          <p:nvPr/>
        </p:nvSpPr>
        <p:spPr>
          <a:xfrm>
            <a:off x="7726679" y="1737360"/>
            <a:ext cx="3840480" cy="777240"/>
          </a:xfrm>
          <a:prstGeom prst="round2DiagRect">
            <a:avLst>
              <a:gd name="adj1" fmla="val 15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7900415" y="1933955"/>
            <a:ext cx="384048" cy="384048"/>
          </a:xfrm>
          <a:prstGeom prst="ellipse">
            <a:avLst/>
          </a:prstGeom>
          <a:solidFill>
            <a:srgbClr val="ED3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1828800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004899"/>
                </a:solidFill>
                <a:latin typeface="Montserrat"/>
              </a:rPr>
              <a:t>Cuota de pago: +407 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139696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6B6B6E"/>
                </a:solidFill>
                <a:latin typeface="Montserrat"/>
              </a:rPr>
              <a:t>Tesorería diseña los pagos antes que la cuota</a:t>
            </a:r>
          </a:p>
        </p:txBody>
      </p:sp>
      <p:sp>
        <p:nvSpPr>
          <p:cNvPr id="41" name="Round Diagonal Corner Rectangle 40"/>
          <p:cNvSpPr/>
          <p:nvPr/>
        </p:nvSpPr>
        <p:spPr>
          <a:xfrm>
            <a:off x="7726679" y="2633472"/>
            <a:ext cx="3840480" cy="777240"/>
          </a:xfrm>
          <a:prstGeom prst="round2DiagRect">
            <a:avLst>
              <a:gd name="adj1" fmla="val 15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7900415" y="2830068"/>
            <a:ext cx="384048" cy="384048"/>
          </a:xfrm>
          <a:prstGeom prst="ellipse">
            <a:avLst/>
          </a:prstGeom>
          <a:solidFill>
            <a:srgbClr val="ED3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272491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004899"/>
                </a:solidFill>
                <a:latin typeface="Montserrat"/>
              </a:rPr>
              <a:t>OC/OS y Conformidad: +122 y +160 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035808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6B6B6E"/>
                </a:solidFill>
                <a:latin typeface="Montserrat"/>
              </a:rPr>
              <a:t>Abastecimiento → Presupuesto, ciclo del gasto</a:t>
            </a:r>
          </a:p>
        </p:txBody>
      </p:sp>
      <p:sp>
        <p:nvSpPr>
          <p:cNvPr id="45" name="Round Diagonal Corner Rectangle 44"/>
          <p:cNvSpPr/>
          <p:nvPr/>
        </p:nvSpPr>
        <p:spPr>
          <a:xfrm>
            <a:off x="7726679" y="3529584"/>
            <a:ext cx="3840480" cy="777240"/>
          </a:xfrm>
          <a:prstGeom prst="round2DiagRect">
            <a:avLst>
              <a:gd name="adj1" fmla="val 15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7900415" y="3726180"/>
            <a:ext cx="384048" cy="384048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B4B4D"/>
                </a:solidFill>
                <a:latin typeface="Montserrat SemiBol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621024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004899"/>
                </a:solidFill>
                <a:latin typeface="Montserrat"/>
              </a:rPr>
              <a:t>Cierres y estados: 287 a 417 d antes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931920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6B6B6E"/>
                </a:solidFill>
                <a:latin typeface="Montserrat"/>
              </a:rPr>
              <a:t>Contabilidad evalúa antes que la ejecución</a:t>
            </a:r>
          </a:p>
        </p:txBody>
      </p:sp>
      <p:sp>
        <p:nvSpPr>
          <p:cNvPr id="49" name="Round Diagonal Corner Rectangle 48"/>
          <p:cNvSpPr/>
          <p:nvPr/>
        </p:nvSpPr>
        <p:spPr>
          <a:xfrm>
            <a:off x="7726679" y="4425696"/>
            <a:ext cx="3840480" cy="777240"/>
          </a:xfrm>
          <a:prstGeom prst="round2DiagRect">
            <a:avLst>
              <a:gd name="adj1" fmla="val 15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7900415" y="4622292"/>
            <a:ext cx="384048" cy="384048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B4B4D"/>
                </a:solidFill>
                <a:latin typeface="Montserrat SemiBol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51713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004899"/>
                </a:solidFill>
                <a:latin typeface="Montserrat"/>
              </a:rPr>
              <a:t>Catálogos y clasificadores: +6 a +71 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82803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6B6B6E"/>
                </a:solidFill>
                <a:latin typeface="Montserrat"/>
              </a:rPr>
              <a:t>Llegan después del fin de la Formulación</a:t>
            </a:r>
          </a:p>
        </p:txBody>
      </p:sp>
      <p:sp>
        <p:nvSpPr>
          <p:cNvPr id="53" name="Round Diagonal Corner Rectangle 52"/>
          <p:cNvSpPr/>
          <p:nvPr/>
        </p:nvSpPr>
        <p:spPr>
          <a:xfrm>
            <a:off x="7726679" y="5321808"/>
            <a:ext cx="3840480" cy="777240"/>
          </a:xfrm>
          <a:prstGeom prst="round2DiagRect">
            <a:avLst>
              <a:gd name="adj1" fmla="val 15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7900415" y="5518404"/>
            <a:ext cx="384048" cy="384048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4B4B4D"/>
                </a:solidFill>
                <a:latin typeface="Montserrat SemiBold"/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413248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004899"/>
                </a:solidFill>
                <a:latin typeface="Montserrat"/>
              </a:rPr>
              <a:t>Insumos a la Formulación: +10 a +162 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7241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6B6B6E"/>
                </a:solidFill>
                <a:latin typeface="Montserrat"/>
              </a:rPr>
              <a:t>De Inversiones, Presupuesto, Deuda y Tesorería</a:t>
            </a:r>
          </a:p>
        </p:txBody>
      </p:sp>
      <p:sp>
        <p:nvSpPr>
          <p:cNvPr id="57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Fuente: Cronograma AFSP – Integrado.mpp, guardado el 21/10/2026. Fechas de diseño funcional (MFD).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Alerta crítica 1 · Tesorería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La cuota de pago llega 407 días después de que empieza la Gestión de pagos</a:t>
            </a:r>
          </a:p>
        </p:txBody>
      </p:sp>
      <p:sp>
        <p:nvSpPr>
          <p:cNvPr id="4" name="Round Diagonal Corner Rectangle 3"/>
          <p:cNvSpPr/>
          <p:nvPr/>
        </p:nvSpPr>
        <p:spPr>
          <a:xfrm>
            <a:off x="640080" y="1691640"/>
            <a:ext cx="3474720" cy="452628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ED3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aler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574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26974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ALERTA CRÍTICA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5000" b="0" i="0">
                <a:solidFill>
                  <a:srgbClr val="FFFFFF"/>
                </a:solidFill>
                <a:latin typeface="Montserrat SemiBold"/>
              </a:rPr>
              <a:t>407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0448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entre el inicio de la Gestión de pagos y la cuota de pago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6692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Filas 162, 163, 232, 234 y 236 del .mpp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03720" y="2057400"/>
            <a:ext cx="0" cy="2020824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0" y="17830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B6E"/>
                </a:solidFill>
                <a:latin typeface="Montserrat"/>
              </a:rPr>
              <a:t>ene 2027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31704" y="2057400"/>
            <a:ext cx="0" cy="2020824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28784" y="17830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B6E"/>
                </a:solidFill>
                <a:latin typeface="Montserrat"/>
              </a:rPr>
              <a:t>jul 2027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85013" y="2057400"/>
            <a:ext cx="0" cy="2020824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82093" y="17830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B6E"/>
                </a:solidFill>
                <a:latin typeface="Montserrat"/>
              </a:rPr>
              <a:t>ene 2028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521440" y="2057400"/>
            <a:ext cx="0" cy="2020824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018519" y="17830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B6E"/>
                </a:solidFill>
                <a:latin typeface="Montserrat"/>
              </a:rPr>
              <a:t>jul 2028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6771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004899"/>
                </a:solidFill>
                <a:latin typeface="Montserrat"/>
              </a:rPr>
              <a:t>Gestión de pagos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23887" y="2359152"/>
            <a:ext cx="3435853" cy="274320"/>
          </a:xfrm>
          <a:prstGeom prst="roundRect">
            <a:avLst>
              <a:gd name="adj" fmla="val 5000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60847" y="2340864"/>
            <a:ext cx="138988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6B6B6E"/>
                </a:solidFill>
                <a:latin typeface="Montserrat"/>
              </a:rPr>
              <a:t>desde 20/04/2027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8346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004899"/>
                </a:solidFill>
                <a:latin typeface="Montserrat"/>
              </a:rPr>
              <a:t>Flujos de caja diarios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91528" y="2926080"/>
            <a:ext cx="489630" cy="274320"/>
          </a:xfrm>
          <a:prstGeom prst="roundRect">
            <a:avLst>
              <a:gd name="adj" fmla="val 50000"/>
            </a:avLst>
          </a:prstGeom>
          <a:solidFill>
            <a:srgbClr val="009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28488" y="2907792"/>
            <a:ext cx="138988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6B6B6E"/>
                </a:solidFill>
                <a:latin typeface="Montserrat"/>
              </a:rPr>
              <a:t>mar – abr 2028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40156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004899"/>
                </a:solidFill>
                <a:latin typeface="Montserrat"/>
              </a:rPr>
              <a:t>Asignación de pago (cuota)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06484" y="3493008"/>
            <a:ext cx="253257" cy="274320"/>
          </a:xfrm>
          <a:prstGeom prst="roundRect">
            <a:avLst>
              <a:gd name="adj" fmla="val 50000"/>
            </a:avLst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543444" y="3474720"/>
            <a:ext cx="138988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6B6B6E"/>
                </a:solidFill>
                <a:latin typeface="Montserrat"/>
              </a:rPr>
              <a:t>may 2028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23887" y="4242816"/>
            <a:ext cx="3435854" cy="0"/>
          </a:xfrm>
          <a:prstGeom prst="line">
            <a:avLst/>
          </a:prstGeom>
          <a:ln w="25400">
            <a:solidFill>
              <a:srgbClr val="ED32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823887" y="4133087"/>
            <a:ext cx="0" cy="219457"/>
          </a:xfrm>
          <a:prstGeom prst="line">
            <a:avLst/>
          </a:prstGeom>
          <a:ln w="25400">
            <a:solidFill>
              <a:srgbClr val="E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23887" y="4297679"/>
            <a:ext cx="3435853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ED3237"/>
                </a:solidFill>
                <a:latin typeface="Montserrat"/>
              </a:rPr>
              <a:t>407 días</a:t>
            </a:r>
          </a:p>
        </p:txBody>
      </p:sp>
      <p:sp>
        <p:nvSpPr>
          <p:cNvPr id="30" name="Round Diagonal Corner Rectangle 29"/>
          <p:cNvSpPr/>
          <p:nvPr/>
        </p:nvSpPr>
        <p:spPr>
          <a:xfrm>
            <a:off x="4480560" y="4800600"/>
            <a:ext cx="7086600" cy="1417320"/>
          </a:xfrm>
          <a:prstGeom prst="round2DiagRect">
            <a:avLst>
              <a:gd name="adj1" fmla="val 15000"/>
              <a:gd name="adj2" fmla="val 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709160" y="5184648"/>
            <a:ext cx="640080" cy="640080"/>
          </a:xfrm>
          <a:prstGeom prst="ellipse">
            <a:avLst/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roa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0" y="5344668"/>
            <a:ext cx="320040" cy="3200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77840" y="4983480"/>
            <a:ext cx="5806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E6375D"/>
                </a:solidFill>
                <a:latin typeface="Montserrat"/>
              </a:rPr>
              <a:t>QUÉ PROPONEMOS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276088"/>
            <a:ext cx="58064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4B4B4D"/>
                </a:solidFill>
                <a:latin typeface="Montserrat"/>
              </a:rPr>
              <a:t>Adelantar los Flujos de caja diarios y la Asignación de pago a ene–abr 2027 (−422 días), o definir una cuota de pago mínima antes del 20/04/2027.</a:t>
            </a:r>
          </a:p>
        </p:txBody>
      </p:sp>
      <p:sp>
        <p:nvSpPr>
          <p:cNvPr id="35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Fuente: Cronograma AFSP – Integrado.mpp, guardado el 21/10/2026. Fechas de diseño funcional (MFD).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Alerta crítica 2 · Abastecimiento y Presupuesto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El gasto en bienes y servicios se diseña antes que la orden y la conformidad</a:t>
            </a:r>
          </a:p>
        </p:txBody>
      </p:sp>
      <p:sp>
        <p:nvSpPr>
          <p:cNvPr id="4" name="Round Diagonal Corner Rectangle 3"/>
          <p:cNvSpPr/>
          <p:nvPr/>
        </p:nvSpPr>
        <p:spPr>
          <a:xfrm>
            <a:off x="640080" y="1691640"/>
            <a:ext cx="3474720" cy="452628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ED3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aler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574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0" y="269748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ALERTA CRÍTICA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600" b="0" i="0">
                <a:solidFill>
                  <a:srgbClr val="FFFFFF"/>
                </a:solidFill>
                <a:latin typeface="Montserrat SemiBold"/>
              </a:rPr>
              <a:t>+122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0448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para la orden de compra o servicio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283464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600" b="0" i="0">
                <a:solidFill>
                  <a:srgbClr val="FFFFFF"/>
                </a:solidFill>
                <a:latin typeface="Montserrat SemiBold"/>
              </a:rPr>
              <a:t>+160 días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84648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para la Conformidad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6692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FFFFFF"/>
                </a:solidFill>
                <a:latin typeface="Montserrat"/>
              </a:rPr>
              <a:t>Filas 181, 195, 196 y 197 del .mpp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03720" y="2057400"/>
            <a:ext cx="0" cy="2020824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17830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B6E"/>
                </a:solidFill>
                <a:latin typeface="Montserrat"/>
              </a:rPr>
              <a:t>may 2027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42960" y="2057400"/>
            <a:ext cx="0" cy="2020824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40039" y="17830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B6E"/>
                </a:solidFill>
                <a:latin typeface="Montserrat"/>
              </a:rPr>
              <a:t>ago 2027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82200" y="2057400"/>
            <a:ext cx="0" cy="2020824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479279" y="17830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B6E"/>
                </a:solidFill>
                <a:latin typeface="Montserrat"/>
              </a:rPr>
              <a:t>nov 2027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21440" y="2057400"/>
            <a:ext cx="0" cy="2020824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018519" y="1783080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0">
                <a:solidFill>
                  <a:srgbClr val="6B6B6E"/>
                </a:solidFill>
                <a:latin typeface="Montserrat"/>
              </a:rPr>
              <a:t>feb 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26771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004899"/>
                </a:solidFill>
                <a:latin typeface="Montserrat"/>
              </a:rPr>
              <a:t>Ejecución de gastos de bienes y servicios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2376" y="2359152"/>
            <a:ext cx="1003852" cy="274320"/>
          </a:xfrm>
          <a:prstGeom prst="roundRect">
            <a:avLst>
              <a:gd name="adj" fmla="val 50000"/>
            </a:avLst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99381" y="2340864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6B6B6E"/>
                </a:solidFill>
                <a:latin typeface="Montserrat"/>
              </a:rPr>
              <a:t>jun – jul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83464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004899"/>
                </a:solidFill>
                <a:latin typeface="Montserrat"/>
              </a:rPr>
              <a:t>Contrato, OC y 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21221" y="2926080"/>
            <a:ext cx="2342321" cy="274320"/>
          </a:xfrm>
          <a:prstGeom prst="roundRect">
            <a:avLst>
              <a:gd name="adj" fmla="val 50000"/>
            </a:avLst>
          </a:prstGeom>
          <a:solidFill>
            <a:srgbClr val="3BB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36695" y="2907792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950" b="0" i="0">
                <a:solidFill>
                  <a:srgbClr val="6B6B6E"/>
                </a:solidFill>
                <a:latin typeface="Montserrat"/>
              </a:rPr>
              <a:t>hasta 01/10/2027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40156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004899"/>
                </a:solidFill>
                <a:latin typeface="Montserrat"/>
              </a:rPr>
              <a:t>Conformidad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616" y="3493008"/>
            <a:ext cx="2141551" cy="274320"/>
          </a:xfrm>
          <a:prstGeom prst="roundRect">
            <a:avLst>
              <a:gd name="adj" fmla="val 50000"/>
            </a:avLst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576" y="3474720"/>
            <a:ext cx="1389888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950" b="0" i="0">
                <a:solidFill>
                  <a:srgbClr val="6B6B6E"/>
                </a:solidFill>
                <a:latin typeface="Montserrat"/>
              </a:rPr>
              <a:t>hasta 07/01/2028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26229" y="4242816"/>
            <a:ext cx="2676939" cy="0"/>
          </a:xfrm>
          <a:prstGeom prst="line">
            <a:avLst/>
          </a:prstGeom>
          <a:ln w="25400">
            <a:solidFill>
              <a:srgbClr val="ED323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26229" y="4133087"/>
            <a:ext cx="0" cy="219457"/>
          </a:xfrm>
          <a:prstGeom prst="line">
            <a:avLst/>
          </a:prstGeom>
          <a:ln w="25400">
            <a:solidFill>
              <a:srgbClr val="ED32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26229" y="4297679"/>
            <a:ext cx="2676939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100" b="1" i="0">
                <a:solidFill>
                  <a:srgbClr val="ED3237"/>
                </a:solidFill>
                <a:latin typeface="Montserrat"/>
              </a:rPr>
              <a:t>160 días</a:t>
            </a:r>
          </a:p>
        </p:txBody>
      </p:sp>
      <p:sp>
        <p:nvSpPr>
          <p:cNvPr id="32" name="Round Diagonal Corner Rectangle 31"/>
          <p:cNvSpPr/>
          <p:nvPr/>
        </p:nvSpPr>
        <p:spPr>
          <a:xfrm>
            <a:off x="4480560" y="4800600"/>
            <a:ext cx="7086600" cy="1417320"/>
          </a:xfrm>
          <a:prstGeom prst="round2DiagRect">
            <a:avLst>
              <a:gd name="adj1" fmla="val 15000"/>
              <a:gd name="adj2" fmla="val 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709160" y="5184648"/>
            <a:ext cx="640080" cy="640080"/>
          </a:xfrm>
          <a:prstGeom prst="ellipse">
            <a:avLst/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road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0" y="5344668"/>
            <a:ext cx="320040" cy="3200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577840" y="4983480"/>
            <a:ext cx="58064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E6375D"/>
                </a:solidFill>
                <a:latin typeface="Montserrat"/>
              </a:rPr>
              <a:t>QUÉ PROPONEMOS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77840" y="5276088"/>
            <a:ext cx="580644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4B4B4D"/>
                </a:solidFill>
                <a:latin typeface="Montserrat"/>
              </a:rPr>
              <a:t>Dividir la Ejecución de gastos de bienes y servicios en compromiso (oct–dic 2027) y devengado (ene–mar 2028), vinculados a la OC/OS y a la Conformidad.</a:t>
            </a:r>
          </a:p>
        </p:txBody>
      </p:sp>
      <p:sp>
        <p:nvSpPr>
          <p:cNvPr id="37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Fuente: Cronograma AFSP – Integrado.mpp, guardado el 21/10/2026. Fechas de diseño funcional (MFD).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Ciclo presupuestario 2027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Ocho insumos llegan después del fin de la Formulación (19/01/2027)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60020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 Diagonal Corner Rectangle 4"/>
          <p:cNvSpPr/>
          <p:nvPr/>
        </p:nvSpPr>
        <p:spPr>
          <a:xfrm>
            <a:off x="7909560" y="1600200"/>
            <a:ext cx="3657600" cy="466344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0" y="1874519"/>
            <a:ext cx="548640" cy="548640"/>
          </a:xfrm>
          <a:prstGeom prst="ellipse">
            <a:avLst/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cal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011679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15400" y="1901952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 i="0">
                <a:solidFill>
                  <a:srgbClr val="004899"/>
                </a:solidFill>
                <a:latin typeface="Montserrat"/>
              </a:rPr>
              <a:t>Qué hacer antes del 15/01/2027</a:t>
            </a:r>
          </a:p>
        </p:txBody>
      </p:sp>
      <p:sp>
        <p:nvSpPr>
          <p:cNvPr id="9" name="Oval 8"/>
          <p:cNvSpPr/>
          <p:nvPr/>
        </p:nvSpPr>
        <p:spPr>
          <a:xfrm>
            <a:off x="8247888" y="2734056"/>
            <a:ext cx="329184" cy="329184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4899"/>
                </a:solidFill>
                <a:latin typeface="Montserrat"/>
              </a:rPr>
              <a:t>Adelantar </a:t>
            </a:r>
            <a:r>
              <a:rPr sz="1200" b="0" i="0">
                <a:solidFill>
                  <a:srgbClr val="4B4B4D"/>
                </a:solidFill>
                <a:latin typeface="Montserrat"/>
              </a:rPr>
              <a:t>metas, clasificadores y catálogos v2 al 15/01/2027</a:t>
            </a:r>
          </a:p>
        </p:txBody>
      </p:sp>
      <p:sp>
        <p:nvSpPr>
          <p:cNvPr id="11" name="Oval 10"/>
          <p:cNvSpPr/>
          <p:nvPr/>
        </p:nvSpPr>
        <p:spPr>
          <a:xfrm>
            <a:off x="8247888" y="3575303"/>
            <a:ext cx="329184" cy="329184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538728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4899"/>
                </a:solidFill>
                <a:latin typeface="Montserrat"/>
              </a:rPr>
              <a:t>Entregar </a:t>
            </a:r>
            <a:r>
              <a:rPr sz="1200" b="0" i="0">
                <a:solidFill>
                  <a:srgbClr val="4B4B4D"/>
                </a:solidFill>
                <a:latin typeface="Montserrat"/>
              </a:rPr>
              <a:t>una versión preliminar de deuda e ingresos al 15/01/2027</a:t>
            </a:r>
          </a:p>
        </p:txBody>
      </p:sp>
      <p:sp>
        <p:nvSpPr>
          <p:cNvPr id="13" name="Oval 12"/>
          <p:cNvSpPr/>
          <p:nvPr/>
        </p:nvSpPr>
        <p:spPr>
          <a:xfrm>
            <a:off x="8247888" y="4416552"/>
            <a:ext cx="329184" cy="329184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379976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4899"/>
                </a:solidFill>
                <a:latin typeface="Montserrat"/>
              </a:rPr>
              <a:t>Confirmar </a:t>
            </a:r>
            <a:r>
              <a:rPr sz="1200" b="0" i="0">
                <a:solidFill>
                  <a:srgbClr val="4B4B4D"/>
                </a:solidFill>
                <a:latin typeface="Montserrat"/>
              </a:rPr>
              <a:t>a qué ciclo corresponde la formulación por proyecto de Inversiones</a:t>
            </a:r>
          </a:p>
        </p:txBody>
      </p:sp>
      <p:sp>
        <p:nvSpPr>
          <p:cNvPr id="15" name="Oval 14"/>
          <p:cNvSpPr/>
          <p:nvPr/>
        </p:nvSpPr>
        <p:spPr>
          <a:xfrm>
            <a:off x="8247888" y="5257800"/>
            <a:ext cx="329184" cy="329184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 SemiBold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221224"/>
            <a:ext cx="269748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4899"/>
                </a:solidFill>
                <a:latin typeface="Montserrat"/>
              </a:rPr>
              <a:t>Incorporar </a:t>
            </a:r>
            <a:r>
              <a:rPr sz="1200" b="0" i="0">
                <a:solidFill>
                  <a:srgbClr val="4B4B4D"/>
                </a:solidFill>
                <a:latin typeface="Montserrat"/>
              </a:rPr>
              <a:t>al PMO los cinco catálogos v2 que hoy no figuran</a:t>
            </a:r>
          </a:p>
        </p:txBody>
      </p:sp>
      <p:sp>
        <p:nvSpPr>
          <p:cNvPr id="17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En salmón, atrasos de 40 días o más. Fuente: Cronograma AFSP – Integrado.mpp, 21/10/2026 (dependencias D7–D10, D17 y D18).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Otras alertas altas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Contabilidad e Inversiones requieren decisiones de alcance</a:t>
            </a:r>
          </a:p>
        </p:txBody>
      </p:sp>
      <p:sp>
        <p:nvSpPr>
          <p:cNvPr id="4" name="Round Diagonal Corner Rectangle 3"/>
          <p:cNvSpPr/>
          <p:nvPr/>
        </p:nvSpPr>
        <p:spPr>
          <a:xfrm>
            <a:off x="640080" y="1691640"/>
            <a:ext cx="3520440" cy="452628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965960"/>
            <a:ext cx="566928" cy="566928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lip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2107691"/>
            <a:ext cx="283464" cy="283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27632" y="19842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E6375D"/>
                </a:solidFill>
                <a:latin typeface="Montserrat"/>
              </a:rPr>
              <a:t>CONTABILIDAD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22128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6B6B6E"/>
                </a:solidFill>
                <a:latin typeface="Montserrat"/>
              </a:rPr>
              <a:t>Alerta alta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004899"/>
                </a:solidFill>
                <a:latin typeface="Montserrat SemiBold"/>
              </a:rPr>
              <a:t>Cierres y estados antes que la ejecución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93008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4B4B4D"/>
                </a:solidFill>
                <a:latin typeface="Montserrat"/>
              </a:rPr>
              <a:t>Estados presupuestales y Cierre: oct 2026 – feb 2027. La Ejecución presupuestaria termina el 22/11/2027.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9884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0" i="0">
                <a:solidFill>
                  <a:srgbClr val="E6375D"/>
                </a:solidFill>
                <a:latin typeface="Montserrat SemiBold"/>
              </a:rPr>
              <a:t>+287 a +417 días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5001768"/>
            <a:ext cx="2971800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5093208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004899"/>
                </a:solidFill>
                <a:latin typeface="Montserrat"/>
              </a:rPr>
              <a:t>Acción: </a:t>
            </a:r>
            <a:r>
              <a:rPr sz="1100" b="0" i="0">
                <a:solidFill>
                  <a:srgbClr val="4B4B4D"/>
                </a:solidFill>
                <a:latin typeface="Montserrat"/>
              </a:rPr>
              <a:t>Confirmar si la fuente es el SIAF-SP (viable) o el nuevo módulo (rediseño).</a:t>
            </a:r>
          </a:p>
        </p:txBody>
      </p:sp>
      <p:sp>
        <p:nvSpPr>
          <p:cNvPr id="14" name="Round Diagonal Corner Rectangle 13"/>
          <p:cNvSpPr/>
          <p:nvPr/>
        </p:nvSpPr>
        <p:spPr>
          <a:xfrm>
            <a:off x="4370832" y="1691640"/>
            <a:ext cx="3520440" cy="452628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645152" y="1965960"/>
            <a:ext cx="566928" cy="566928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og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84" y="2107691"/>
            <a:ext cx="283464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58384" y="19842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E6375D"/>
                </a:solidFill>
                <a:latin typeface="Montserrat"/>
              </a:rPr>
              <a:t>CONTABILIDAD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22128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6B6B6E"/>
                </a:solidFill>
                <a:latin typeface="Montserrat"/>
              </a:rPr>
              <a:t>Alerta alta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7432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004899"/>
                </a:solidFill>
                <a:latin typeface="Montserrat SemiBold"/>
              </a:rPr>
              <a:t>Motor contable sin actualizar desde 2028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3493008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4B4B4D"/>
                </a:solidFill>
                <a:latin typeface="Montserrat"/>
              </a:rPr>
              <a:t>Última actualización del Catálogo de Eventos: 22/09/2028. Endeudamiento y almacén se diseñan hasta 28/12/2029.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449884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0" i="0">
                <a:solidFill>
                  <a:srgbClr val="E6375D"/>
                </a:solidFill>
                <a:latin typeface="Montserrat SemiBold"/>
              </a:rPr>
              <a:t>462 días sin cobertura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45152" y="5001768"/>
            <a:ext cx="2971800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45152" y="5093208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004899"/>
                </a:solidFill>
                <a:latin typeface="Montserrat"/>
              </a:rPr>
              <a:t>Acción: </a:t>
            </a:r>
            <a:r>
              <a:rPr sz="1100" b="0" i="0">
                <a:solidFill>
                  <a:srgbClr val="4B4B4D"/>
                </a:solidFill>
                <a:latin typeface="Montserrat"/>
              </a:rPr>
              <a:t>Agregar una Actualización 3 del motor contable (sep–dic 2029).</a:t>
            </a:r>
          </a:p>
        </p:txBody>
      </p:sp>
      <p:sp>
        <p:nvSpPr>
          <p:cNvPr id="24" name="Round Diagonal Corner Rectangle 23"/>
          <p:cNvSpPr/>
          <p:nvPr/>
        </p:nvSpPr>
        <p:spPr>
          <a:xfrm>
            <a:off x="8101583" y="1691640"/>
            <a:ext cx="3520440" cy="452628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375904" y="1965960"/>
            <a:ext cx="566928" cy="566928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han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636" y="2107691"/>
            <a:ext cx="283464" cy="2834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089136" y="1984248"/>
            <a:ext cx="233172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1" i="0">
                <a:solidFill>
                  <a:srgbClr val="E6375D"/>
                </a:solidFill>
                <a:latin typeface="Montserrat"/>
              </a:rPr>
              <a:t>INVERSIONES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22128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50" b="0" i="0">
                <a:solidFill>
                  <a:srgbClr val="6B6B6E"/>
                </a:solidFill>
                <a:latin typeface="Montserrat"/>
              </a:rPr>
              <a:t>Alerta alta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5904" y="274320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 i="0">
                <a:solidFill>
                  <a:srgbClr val="004899"/>
                </a:solidFill>
                <a:latin typeface="Montserrat SemiBold"/>
              </a:rPr>
              <a:t>Programación de inversiones detenida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3493008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4B4B4D"/>
                </a:solidFill>
                <a:latin typeface="Montserrat"/>
              </a:rPr>
              <a:t>PMI y PMIE en StandBy al 62 %, con fin el 30/11/2026. El registro de proyectos empieza al día siguiente.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4498848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0" i="0">
                <a:solidFill>
                  <a:srgbClr val="E6375D"/>
                </a:solidFill>
                <a:latin typeface="Montserrat SemiBold"/>
              </a:rPr>
              <a:t>0 días de holgura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75904" y="5001768"/>
            <a:ext cx="2971800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75904" y="5093208"/>
            <a:ext cx="297180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004899"/>
                </a:solidFill>
                <a:latin typeface="Montserrat"/>
              </a:rPr>
              <a:t>Acción: </a:t>
            </a:r>
            <a:r>
              <a:rPr sz="1100" b="0" i="0">
                <a:solidFill>
                  <a:srgbClr val="4B4B4D"/>
                </a:solidFill>
                <a:latin typeface="Montserrat"/>
              </a:rPr>
              <a:t>Decidir si la PMI se reactiva y a qué ciclo corresponde la formulación por proyecto.</a:t>
            </a:r>
          </a:p>
        </p:txBody>
      </p:sp>
      <p:sp>
        <p:nvSpPr>
          <p:cNvPr id="34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Fuente: Cronograma AFSP – Integrado.mpp, guardado el 21/10/2026. Fechas de diseño funcional (MFD).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El cronograma aún no sirve como instrumento de control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Sin lógica de red, la integración no se puede demostrar ni seguir</a:t>
            </a:r>
          </a:p>
        </p:txBody>
      </p:sp>
      <p:sp>
        <p:nvSpPr>
          <p:cNvPr id="4" name="Round Diagonal Corner Rectangle 3"/>
          <p:cNvSpPr/>
          <p:nvPr/>
        </p:nvSpPr>
        <p:spPr>
          <a:xfrm>
            <a:off x="640080" y="1691640"/>
            <a:ext cx="3520440" cy="182880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ED3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link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" y="2153412"/>
            <a:ext cx="283464" cy="2834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4208" y="192024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200" b="0" i="0">
                <a:solidFill>
                  <a:srgbClr val="ED3237"/>
                </a:solidFill>
                <a:latin typeface="Montserrat SemiBold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4B4B4D"/>
                </a:solidFill>
                <a:latin typeface="Montserrat"/>
              </a:rPr>
              <a:t>dependencias registradas en 374 filas</a:t>
            </a:r>
          </a:p>
        </p:txBody>
      </p:sp>
      <p:sp>
        <p:nvSpPr>
          <p:cNvPr id="9" name="Round Diagonal Corner Rectangle 8"/>
          <p:cNvSpPr/>
          <p:nvPr/>
        </p:nvSpPr>
        <p:spPr>
          <a:xfrm>
            <a:off x="4370832" y="1691640"/>
            <a:ext cx="3520440" cy="182880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45152" y="2011680"/>
            <a:ext cx="566928" cy="566928"/>
          </a:xfrm>
          <a:prstGeom prst="ellipse">
            <a:avLst/>
          </a:prstGeom>
          <a:solidFill>
            <a:srgbClr val="ED32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task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884" y="2153412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94960" y="192024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0" i="0">
                <a:solidFill>
                  <a:srgbClr val="ED3237"/>
                </a:solidFill>
                <a:latin typeface="Montserrat SemiBold"/>
              </a:rPr>
              <a:t>304 de 307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7432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4B4B4D"/>
                </a:solidFill>
                <a:latin typeface="Montserrat"/>
              </a:rPr>
              <a:t>tareas en modo de programación manual</a:t>
            </a:r>
          </a:p>
        </p:txBody>
      </p:sp>
      <p:sp>
        <p:nvSpPr>
          <p:cNvPr id="14" name="Round Diagonal Corner Rectangle 13"/>
          <p:cNvSpPr/>
          <p:nvPr/>
        </p:nvSpPr>
        <p:spPr>
          <a:xfrm>
            <a:off x="8101583" y="1691640"/>
            <a:ext cx="3520440" cy="182880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75904" y="2011680"/>
            <a:ext cx="566928" cy="566928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lag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636" y="2153412"/>
            <a:ext cx="283464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25712" y="192024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200" b="0" i="0">
                <a:solidFill>
                  <a:srgbClr val="F5BB47"/>
                </a:solidFill>
                <a:latin typeface="Montserrat SemiBold"/>
              </a:rPr>
              <a:t>Sin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432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4B4B4D"/>
                </a:solidFill>
                <a:latin typeface="Montserrat"/>
              </a:rPr>
              <a:t>línea base, fecha de estado ni hitos</a:t>
            </a:r>
          </a:p>
        </p:txBody>
      </p:sp>
      <p:sp>
        <p:nvSpPr>
          <p:cNvPr id="19" name="Round Diagonal Corner Rectangle 18"/>
          <p:cNvSpPr/>
          <p:nvPr/>
        </p:nvSpPr>
        <p:spPr>
          <a:xfrm>
            <a:off x="640080" y="3703320"/>
            <a:ext cx="3520440" cy="182880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14400" y="4023360"/>
            <a:ext cx="566928" cy="566928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clo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" y="4165092"/>
            <a:ext cx="283464" cy="2834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4208" y="39319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200" b="0" i="0">
                <a:solidFill>
                  <a:srgbClr val="F5BB47"/>
                </a:solidFill>
                <a:latin typeface="Montserrat SemiBold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4B4B4D"/>
                </a:solidFill>
                <a:latin typeface="Montserrat"/>
              </a:rPr>
              <a:t>tareas vencidas que siguen al 99 %</a:t>
            </a:r>
          </a:p>
        </p:txBody>
      </p:sp>
      <p:sp>
        <p:nvSpPr>
          <p:cNvPr id="24" name="Round Diagonal Corner Rectangle 23"/>
          <p:cNvSpPr/>
          <p:nvPr/>
        </p:nvSpPr>
        <p:spPr>
          <a:xfrm>
            <a:off x="4370832" y="3703320"/>
            <a:ext cx="3520440" cy="182880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4645152" y="4023360"/>
            <a:ext cx="566928" cy="566928"/>
          </a:xfrm>
          <a:prstGeom prst="ellipse">
            <a:avLst/>
          </a:prstGeom>
          <a:solidFill>
            <a:srgbClr val="F5B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ca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884" y="4165092"/>
            <a:ext cx="283464" cy="2834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394960" y="39319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200" b="0" i="0">
                <a:solidFill>
                  <a:srgbClr val="F5BB47"/>
                </a:solidFill>
                <a:latin typeface="Montserrat SemiBold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7548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4B4B4D"/>
                </a:solidFill>
                <a:latin typeface="Montserrat"/>
              </a:rPr>
              <a:t>tareas que debieron iniciar y están en 0 %</a:t>
            </a:r>
          </a:p>
        </p:txBody>
      </p:sp>
      <p:sp>
        <p:nvSpPr>
          <p:cNvPr id="29" name="Round Diagonal Corner Rectangle 28"/>
          <p:cNvSpPr/>
          <p:nvPr/>
        </p:nvSpPr>
        <p:spPr>
          <a:xfrm>
            <a:off x="8101583" y="3703320"/>
            <a:ext cx="3520440" cy="1828800"/>
          </a:xfrm>
          <a:prstGeom prst="round2DiagRect">
            <a:avLst>
              <a:gd name="adj1" fmla="val 12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375904" y="4023360"/>
            <a:ext cx="566928" cy="566928"/>
          </a:xfrm>
          <a:prstGeom prst="ellipse">
            <a:avLst/>
          </a:prstGeom>
          <a:solidFill>
            <a:srgbClr val="009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searc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7636" y="4165092"/>
            <a:ext cx="283464" cy="2834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125712" y="393192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200" b="0" i="0">
                <a:solidFill>
                  <a:srgbClr val="0093F8"/>
                </a:solidFill>
                <a:latin typeface="Montserrat SemiBold"/>
              </a:rPr>
              <a:t>33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904" y="47548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4B4B4D"/>
                </a:solidFill>
                <a:latin typeface="Montserrat"/>
              </a:rPr>
              <a:t>actividades marcadas «No figura en PMO»</a:t>
            </a:r>
          </a:p>
        </p:txBody>
      </p:sp>
      <p:sp>
        <p:nvSpPr>
          <p:cNvPr id="34" name="Round Diagonal Corner Rectangle 33"/>
          <p:cNvSpPr/>
          <p:nvPr/>
        </p:nvSpPr>
        <p:spPr>
          <a:xfrm>
            <a:off x="640080" y="5760720"/>
            <a:ext cx="10927080" cy="502920"/>
          </a:xfrm>
          <a:prstGeom prst="round2DiagRect">
            <a:avLst>
              <a:gd name="adj1" fmla="val 30000"/>
              <a:gd name="adj2" fmla="val 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8680" y="57607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004899"/>
                </a:solidFill>
                <a:latin typeface="Montserrat"/>
              </a:rPr>
              <a:t>Además: </a:t>
            </a:r>
            <a:r>
              <a:rPr sz="1200" b="0" i="0">
                <a:solidFill>
                  <a:srgbClr val="4B4B4D"/>
                </a:solidFill>
                <a:latin typeface="Montserrat"/>
              </a:rPr>
              <a:t>la construcción del software (C3) no está programada. Las fechas miden el diseño (MFD), no la puesta en producción.</a:t>
            </a:r>
          </a:p>
        </p:txBody>
      </p:sp>
      <p:sp>
        <p:nvSpPr>
          <p:cNvPr id="36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Fuente: Cronograma AFSP – Integrado.mpp, guardado el 21/10/2026. Fechas de diseño funcional (MFD).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Ajustes propuestos al cronograma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Adelantar insumos antes que retrasar receptores; el fin del 28/12/2029 no cambia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00200"/>
          <a:ext cx="10927080" cy="448056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02920"/>
                <a:gridCol w="1417320"/>
                <a:gridCol w="3383280"/>
                <a:gridCol w="1691640"/>
                <a:gridCol w="1783080"/>
                <a:gridCol w="1097280"/>
                <a:gridCol w="10515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N.º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Sistema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Actividad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Hoy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Propuesta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Días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Prioridad</a:t>
                      </a:r>
                    </a:p>
                  </a:txBody>
                  <a:tcPr marL="73152" marR="73152" marT="36576" marB="36576" anchor="ctr">
                    <a:solidFill>
                      <a:srgbClr val="00489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Tesorería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B4B4D"/>
                          </a:solidFill>
                          <a:latin typeface="Montserrat"/>
                        </a:rPr>
                        <a:t>Flujos de caja diarios y cuota de pago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6B6E"/>
                          </a:solidFill>
                          <a:latin typeface="Montserrat"/>
                        </a:rPr>
                        <a:t>mar – may 2028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4899"/>
                          </a:solidFill>
                          <a:latin typeface="Montserrat"/>
                        </a:rPr>
                        <a:t>ene – abr 2027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6375D"/>
                          </a:solidFill>
                          <a:latin typeface="Montserrat"/>
                        </a:rPr>
                        <a:t>−422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5BB47"/>
                          </a:solidFill>
                          <a:latin typeface="Montserrat"/>
                        </a:rPr>
                        <a:t>● </a:t>
                      </a:r>
                      <a:r>
                        <a:rPr sz="1050" b="0">
                          <a:solidFill>
                            <a:srgbClr val="4B4B4D"/>
                          </a:solidFill>
                          <a:latin typeface="Montserrat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Presupuesto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B4B4D"/>
                          </a:solidFill>
                          <a:latin typeface="Montserrat"/>
                        </a:rPr>
                        <a:t>Ejecución de bienes y servicios: compromiso y devengado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6B6E"/>
                          </a:solidFill>
                          <a:latin typeface="Montserrat"/>
                        </a:rPr>
                        <a:t>jun – jul 2027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4899"/>
                          </a:solidFill>
                          <a:latin typeface="Montserrat"/>
                        </a:rPr>
                        <a:t>oct 2027 – mar 2028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6375D"/>
                          </a:solidFill>
                          <a:latin typeface="Montserrat"/>
                        </a:rPr>
                        <a:t>+125 / +223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5BB47"/>
                          </a:solidFill>
                          <a:latin typeface="Montserrat"/>
                        </a:rPr>
                        <a:t>● </a:t>
                      </a:r>
                      <a:r>
                        <a:rPr sz="1050" b="0">
                          <a:solidFill>
                            <a:srgbClr val="4B4B4D"/>
                          </a:solidFill>
                          <a:latin typeface="Montserrat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Presupuesto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B4B4D"/>
                          </a:solidFill>
                          <a:latin typeface="Montserrat"/>
                        </a:rPr>
                        <a:t>Administrador de Metas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6B6E"/>
                          </a:solidFill>
                          <a:latin typeface="Montserrat"/>
                        </a:rPr>
                        <a:t>dic 2026 – mar 2027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4899"/>
                          </a:solidFill>
                          <a:latin typeface="Montserrat"/>
                        </a:rPr>
                        <a:t>oct 2026 – ene 2027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6375D"/>
                          </a:solidFill>
                          <a:latin typeface="Montserrat"/>
                        </a:rPr>
                        <a:t>−66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5BB47"/>
                          </a:solidFill>
                          <a:latin typeface="Montserrat"/>
                        </a:rPr>
                        <a:t>● </a:t>
                      </a:r>
                      <a:r>
                        <a:rPr sz="1050" b="0">
                          <a:solidFill>
                            <a:srgbClr val="4B4B4D"/>
                          </a:solidFill>
                          <a:latin typeface="Montserrat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Presupuesto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B4B4D"/>
                          </a:solidFill>
                          <a:latin typeface="Montserrat"/>
                        </a:rPr>
                        <a:t>Catálogos v2 y Relación Actividad por Finalidad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6B6E"/>
                          </a:solidFill>
                          <a:latin typeface="Montserrat"/>
                        </a:rPr>
                        <a:t>hasta mar 2027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4899"/>
                          </a:solidFill>
                          <a:latin typeface="Montserrat"/>
                        </a:rPr>
                        <a:t>15/01/2027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6375D"/>
                          </a:solidFill>
                          <a:latin typeface="Montserrat"/>
                        </a:rPr>
                        <a:t>−10 a −49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5BB47"/>
                          </a:solidFill>
                          <a:latin typeface="Montserrat"/>
                        </a:rPr>
                        <a:t>● </a:t>
                      </a:r>
                      <a:r>
                        <a:rPr sz="1050" b="0">
                          <a:solidFill>
                            <a:srgbClr val="4B4B4D"/>
                          </a:solidFill>
                          <a:latin typeface="Montserrat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Contabilidad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B4B4D"/>
                          </a:solidFill>
                          <a:latin typeface="Montserrat"/>
                        </a:rPr>
                        <a:t>Estados presupuestales y cierre (si la fuente es el nuevo módulo)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6B6E"/>
                          </a:solidFill>
                          <a:latin typeface="Montserrat"/>
                        </a:rPr>
                        <a:t>oct 2026 – feb 2027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4899"/>
                          </a:solidFill>
                          <a:latin typeface="Montserrat"/>
                        </a:rPr>
                        <a:t>nov 2027 – mar 2028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6375D"/>
                          </a:solidFill>
                          <a:latin typeface="Montserrat"/>
                        </a:rPr>
                        <a:t>+418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5BB47"/>
                          </a:solidFill>
                          <a:latin typeface="Montserrat"/>
                        </a:rPr>
                        <a:t>● </a:t>
                      </a:r>
                      <a:r>
                        <a:rPr sz="1050" b="0">
                          <a:solidFill>
                            <a:srgbClr val="4B4B4D"/>
                          </a:solidFill>
                          <a:latin typeface="Montserrat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12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Inversiones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B4B4D"/>
                          </a:solidFill>
                          <a:latin typeface="Montserrat"/>
                        </a:rPr>
                        <a:t>PMI y formulación por proyecto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6B6E"/>
                          </a:solidFill>
                          <a:latin typeface="Montserrat"/>
                        </a:rPr>
                        <a:t>StandBy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4899"/>
                          </a:solidFill>
                          <a:latin typeface="Montserrat"/>
                        </a:rPr>
                        <a:t>Por decidir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6375D"/>
                          </a:solidFill>
                          <a:latin typeface="Montserrat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F5BB47"/>
                          </a:solidFill>
                          <a:latin typeface="Montserrat"/>
                        </a:rPr>
                        <a:t>● </a:t>
                      </a:r>
                      <a:r>
                        <a:rPr sz="1050" b="0">
                          <a:solidFill>
                            <a:srgbClr val="4B4B4D"/>
                          </a:solidFill>
                          <a:latin typeface="Montserrat"/>
                        </a:rPr>
                        <a:t>Alta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Presupuesto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B4B4D"/>
                          </a:solidFill>
                          <a:latin typeface="Montserrat"/>
                        </a:rPr>
                        <a:t>Clasificadores de Cambio Climático y Pueblos Indígenas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6B6E"/>
                          </a:solidFill>
                          <a:latin typeface="Montserrat"/>
                        </a:rPr>
                        <a:t>hasta mar 2027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4899"/>
                          </a:solidFill>
                          <a:latin typeface="Montserrat"/>
                        </a:rPr>
                        <a:t>15/01/2027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6375D"/>
                          </a:solidFill>
                          <a:latin typeface="Montserrat"/>
                        </a:rPr>
                        <a:t>−48 / −75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93F8"/>
                          </a:solidFill>
                          <a:latin typeface="Montserrat"/>
                        </a:rPr>
                        <a:t>● </a:t>
                      </a:r>
                      <a:r>
                        <a:rPr sz="1050" b="0">
                          <a:solidFill>
                            <a:srgbClr val="4B4B4D"/>
                          </a:solidFill>
                          <a:latin typeface="Montserrat"/>
                        </a:rPr>
                        <a:t>Media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7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04899"/>
                          </a:solidFill>
                          <a:latin typeface="Montserrat"/>
                        </a:rPr>
                        <a:t>Contabilidad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4B4B4D"/>
                          </a:solidFill>
                          <a:latin typeface="Montserrat"/>
                        </a:rPr>
                        <a:t>Actualización 3 del motor contable (nueva)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6B6B6E"/>
                          </a:solidFill>
                          <a:latin typeface="Montserrat"/>
                        </a:rPr>
                        <a:t>No existe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04899"/>
                          </a:solidFill>
                          <a:latin typeface="Montserrat"/>
                        </a:rPr>
                        <a:t>sep – dic 2029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E6375D"/>
                          </a:solidFill>
                          <a:latin typeface="Montserrat"/>
                        </a:rPr>
                        <a:t>Nueva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093F8"/>
                          </a:solidFill>
                          <a:latin typeface="Montserrat"/>
                        </a:rPr>
                        <a:t>● </a:t>
                      </a:r>
                      <a:r>
                        <a:rPr sz="1050" b="0">
                          <a:solidFill>
                            <a:srgbClr val="4B4B4D"/>
                          </a:solidFill>
                          <a:latin typeface="Montserrat"/>
                        </a:rPr>
                        <a:t>Media</a:t>
                      </a:r>
                    </a:p>
                  </a:txBody>
                  <a:tcPr marL="73152" marR="73152" marT="36576" marB="36576" anchor="ctr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5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Fechas calculables, pero sin verificar viabilidad: el .mpp no tiene recursos asignados. Requieren validación de los CAF y la fábrica. Detalle de los 12 ajustes en el Cuadro 5 del informe.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"/>
          <p:cNvSpPr txBox="1"/>
          <p:nvPr/>
        </p:nvSpPr>
        <p:spPr>
          <a:xfrm>
            <a:off x="640080" y="384048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2800" b="0" i="0">
                <a:solidFill>
                  <a:srgbClr val="004899"/>
                </a:solidFill>
                <a:latin typeface="Montserrat SemiBold"/>
              </a:rPr>
              <a:t>Decisiones que necesitamos de la UCP</a:t>
            </a:r>
          </a:p>
        </p:txBody>
      </p:sp>
      <p:sp>
        <p:nvSpPr>
          <p:cNvPr id="3" name="Bajada"/>
          <p:cNvSpPr txBox="1"/>
          <p:nvPr/>
        </p:nvSpPr>
        <p:spPr>
          <a:xfrm>
            <a:off x="640080" y="960120"/>
            <a:ext cx="1090879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 i="0">
                <a:solidFill>
                  <a:srgbClr val="E6375D"/>
                </a:solidFill>
                <a:latin typeface="Montserrat"/>
              </a:rPr>
              <a:t>Cinco decisiones de alcance y una orden técnica a la PMO</a:t>
            </a:r>
          </a:p>
        </p:txBody>
      </p:sp>
      <p:sp>
        <p:nvSpPr>
          <p:cNvPr id="4" name="Round Diagonal Corner Rectangle 3"/>
          <p:cNvSpPr/>
          <p:nvPr/>
        </p:nvSpPr>
        <p:spPr>
          <a:xfrm>
            <a:off x="640080" y="1691640"/>
            <a:ext cx="5367528" cy="137160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2075688"/>
            <a:ext cx="603504" cy="603504"/>
          </a:xfrm>
          <a:prstGeom prst="ellipse">
            <a:avLst/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coin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" y="2226564"/>
            <a:ext cx="301752" cy="30175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325880" y="1938528"/>
            <a:ext cx="274320" cy="274320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87452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004899"/>
                </a:solidFill>
                <a:latin typeface="Montserrat SemiBold"/>
              </a:rPr>
              <a:t>Cuota de pago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240280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B4B4D"/>
                </a:solidFill>
                <a:latin typeface="Montserrat"/>
              </a:rPr>
              <a:t>Aprobar su reprogramación o una versión mínima antes del 20/04/2027.</a:t>
            </a:r>
          </a:p>
        </p:txBody>
      </p:sp>
      <p:sp>
        <p:nvSpPr>
          <p:cNvPr id="10" name="Round Diagonal Corner Rectangle 9"/>
          <p:cNvSpPr/>
          <p:nvPr/>
        </p:nvSpPr>
        <p:spPr>
          <a:xfrm>
            <a:off x="6199632" y="1691640"/>
            <a:ext cx="5367528" cy="137160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73952" y="2075688"/>
            <a:ext cx="603504" cy="603504"/>
          </a:xfrm>
          <a:prstGeom prst="ellipse">
            <a:avLst/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ar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828" y="2226564"/>
            <a:ext cx="301752" cy="30175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6885432" y="1938528"/>
            <a:ext cx="274320" cy="274320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 Semi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912" y="1874520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004899"/>
                </a:solidFill>
                <a:latin typeface="Montserrat SemiBold"/>
              </a:rPr>
              <a:t>Gasto en bienes y servicios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2240280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B4B4D"/>
                </a:solidFill>
                <a:latin typeface="Montserrat"/>
              </a:rPr>
              <a:t>Definir cómo se diseña la ejecución frente a la OC/OS y la Conformidad.</a:t>
            </a:r>
          </a:p>
        </p:txBody>
      </p:sp>
      <p:sp>
        <p:nvSpPr>
          <p:cNvPr id="16" name="Round Diagonal Corner Rectangle 15"/>
          <p:cNvSpPr/>
          <p:nvPr/>
        </p:nvSpPr>
        <p:spPr>
          <a:xfrm>
            <a:off x="640080" y="3227832"/>
            <a:ext cx="5367528" cy="137160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14400" y="3611880"/>
            <a:ext cx="603504" cy="603504"/>
          </a:xfrm>
          <a:prstGeom prst="ellipse">
            <a:avLst/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d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276" y="3762756"/>
            <a:ext cx="301752" cy="301752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325880" y="3474720"/>
            <a:ext cx="274320" cy="274320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 SemiBol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410712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004899"/>
                </a:solidFill>
                <a:latin typeface="Montserrat SemiBold"/>
              </a:rPr>
              <a:t>Fuente contable 2026–2027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776472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B4B4D"/>
                </a:solidFill>
                <a:latin typeface="Montserrat"/>
              </a:rPr>
              <a:t>Confirmar si los cierres y estados usan el SIAF-SP o el nuevo módulo.</a:t>
            </a:r>
          </a:p>
        </p:txBody>
      </p:sp>
      <p:sp>
        <p:nvSpPr>
          <p:cNvPr id="22" name="Round Diagonal Corner Rectangle 21"/>
          <p:cNvSpPr/>
          <p:nvPr/>
        </p:nvSpPr>
        <p:spPr>
          <a:xfrm>
            <a:off x="6199632" y="3227832"/>
            <a:ext cx="5367528" cy="137160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473952" y="3611880"/>
            <a:ext cx="603504" cy="603504"/>
          </a:xfrm>
          <a:prstGeom prst="ellipse">
            <a:avLst/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hand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3762756"/>
            <a:ext cx="301752" cy="301752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6885432" y="3474720"/>
            <a:ext cx="274320" cy="274320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96912" y="3410712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004899"/>
                </a:solidFill>
                <a:latin typeface="Montserrat SemiBold"/>
              </a:rPr>
              <a:t>Inversiones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96912" y="3776472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B4B4D"/>
                </a:solidFill>
                <a:latin typeface="Montserrat"/>
              </a:rPr>
              <a:t>Decidir si la PMI sale de StandBy y a qué ciclo va la formulación por proyecto.</a:t>
            </a:r>
          </a:p>
        </p:txBody>
      </p:sp>
      <p:sp>
        <p:nvSpPr>
          <p:cNvPr id="28" name="Round Diagonal Corner Rectangle 27"/>
          <p:cNvSpPr/>
          <p:nvPr/>
        </p:nvSpPr>
        <p:spPr>
          <a:xfrm>
            <a:off x="640080" y="4764024"/>
            <a:ext cx="5367528" cy="137160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14400" y="5148072"/>
            <a:ext cx="603504" cy="603504"/>
          </a:xfrm>
          <a:prstGeom prst="ellipse">
            <a:avLst/>
          </a:prstGeom>
          <a:solidFill>
            <a:srgbClr val="00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gavel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276" y="5298948"/>
            <a:ext cx="301752" cy="301752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1325880" y="5010912"/>
            <a:ext cx="274320" cy="274320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 SemiBol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946904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004899"/>
                </a:solidFill>
                <a:latin typeface="Montserrat SemiBold"/>
              </a:rPr>
              <a:t>Alcance PMO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312664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B4B4D"/>
                </a:solidFill>
                <a:latin typeface="Montserrat"/>
              </a:rPr>
              <a:t>Incorporar las 33 actividades fuera del PMO y fijar un titular único de convenios y acreedores.</a:t>
            </a:r>
          </a:p>
        </p:txBody>
      </p:sp>
      <p:sp>
        <p:nvSpPr>
          <p:cNvPr id="34" name="Round Diagonal Corner Rectangle 33"/>
          <p:cNvSpPr/>
          <p:nvPr/>
        </p:nvSpPr>
        <p:spPr>
          <a:xfrm>
            <a:off x="6199632" y="4764024"/>
            <a:ext cx="5367528" cy="1371600"/>
          </a:xfrm>
          <a:prstGeom prst="round2DiagRect">
            <a:avLst>
              <a:gd name="adj1" fmla="val 14000"/>
              <a:gd name="adj2" fmla="val 0"/>
            </a:avLst>
          </a:prstGeom>
          <a:solidFill>
            <a:srgbClr val="FFFFFF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473952" y="5148072"/>
            <a:ext cx="603504" cy="603504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projec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828" y="5298948"/>
            <a:ext cx="301752" cy="301752"/>
          </a:xfrm>
          <a:prstGeom prst="rect">
            <a:avLst/>
          </a:prstGeom>
        </p:spPr>
      </p:pic>
      <p:sp>
        <p:nvSpPr>
          <p:cNvPr id="37" name="Oval 36"/>
          <p:cNvSpPr/>
          <p:nvPr/>
        </p:nvSpPr>
        <p:spPr>
          <a:xfrm>
            <a:off x="6885432" y="5010912"/>
            <a:ext cx="274320" cy="274320"/>
          </a:xfrm>
          <a:prstGeom prst="ellipse">
            <a:avLst/>
          </a:prstGeom>
          <a:solidFill>
            <a:srgbClr val="E6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ontserrat SemiBold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96912" y="4946904"/>
            <a:ext cx="4069080" cy="3474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 i="0">
                <a:solidFill>
                  <a:srgbClr val="004899"/>
                </a:solidFill>
                <a:latin typeface="Montserrat SemiBold"/>
              </a:rPr>
              <a:t>Orden a la PMO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6912" y="5312664"/>
            <a:ext cx="40690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4B4B4D"/>
                </a:solidFill>
                <a:latin typeface="Montserrat"/>
              </a:rPr>
              <a:t>Registrar las 22 dependencias, programación automática, línea base y fechas de construcción (C3).</a:t>
            </a:r>
          </a:p>
        </p:txBody>
      </p:sp>
      <p:sp>
        <p:nvSpPr>
          <p:cNvPr id="40" name="Fuente"/>
          <p:cNvSpPr txBox="1"/>
          <p:nvPr/>
        </p:nvSpPr>
        <p:spPr>
          <a:xfrm>
            <a:off x="640080" y="641908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6B6B6E"/>
                </a:solidFill>
                <a:latin typeface="Montserrat"/>
              </a:rPr>
              <a:t>El informe completo (cuadros 1 a 5, 22 dependencias y 19 alertas) acompaña esta presentación.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9ECF9989E3FAA44811BF2EABD0309F3" ma:contentTypeVersion="14" ma:contentTypeDescription="Crear nuevo documento." ma:contentTypeScope="" ma:versionID="5aa5db0f6795d7c4c9a2c9212d28dead">
  <xsd:schema xmlns:xsd="http://www.w3.org/2001/XMLSchema" xmlns:xs="http://www.w3.org/2001/XMLSchema" xmlns:p="http://schemas.microsoft.com/office/2006/metadata/properties" xmlns:ns2="0757f953-ffba-4635-8b22-6ca19da95271" xmlns:ns3="730c8dde-a94e-4548-ba69-8cb83e32ca32" targetNamespace="http://schemas.microsoft.com/office/2006/metadata/properties" ma:root="true" ma:fieldsID="ae99d2f3a8f5606f9637f0238a89b795" ns2:_="" ns3:_="">
    <xsd:import namespace="0757f953-ffba-4635-8b22-6ca19da95271"/>
    <xsd:import namespace="730c8dde-a94e-4548-ba69-8cb83e32ca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57f953-ffba-4635-8b22-6ca19da95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868abc72-c989-4c94-afdf-a4df239278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0c8dde-a94e-4548-ba69-8cb83e32ca3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f07bc8-7f88-4255-bab4-09e1373096b9}" ma:internalName="TaxCatchAll" ma:showField="CatchAllData" ma:web="730c8dde-a94e-4548-ba69-8cb83e32ca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57f953-ffba-4635-8b22-6ca19da95271">
      <Terms xmlns="http://schemas.microsoft.com/office/infopath/2007/PartnerControls"/>
    </lcf76f155ced4ddcb4097134ff3c332f>
    <TaxCatchAll xmlns="730c8dde-a94e-4548-ba69-8cb83e32ca32" xsi:nil="true"/>
  </documentManagement>
</p:properties>
</file>

<file path=customXml/itemProps1.xml><?xml version="1.0" encoding="utf-8"?>
<ds:datastoreItem xmlns:ds="http://schemas.openxmlformats.org/officeDocument/2006/customXml" ds:itemID="{63EA47E8-B6F4-4234-A397-50BF563D249D}"/>
</file>

<file path=customXml/itemProps2.xml><?xml version="1.0" encoding="utf-8"?>
<ds:datastoreItem xmlns:ds="http://schemas.openxmlformats.org/officeDocument/2006/customXml" ds:itemID="{5B7E14FA-F676-4C51-9C31-3267A8DEB8BB}"/>
</file>

<file path=customXml/itemProps3.xml><?xml version="1.0" encoding="utf-8"?>
<ds:datastoreItem xmlns:ds="http://schemas.openxmlformats.org/officeDocument/2006/customXml" ds:itemID="{7F4343C7-CDF5-42DB-9F49-F81127562491}"/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264</Words>
  <Application>Microsoft Office PowerPoint</Application>
  <PresentationFormat>Panorámica</PresentationFormat>
  <Paragraphs>22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Arial</vt:lpstr>
      <vt:lpstr>Calibri</vt:lpstr>
      <vt:lpstr>Montserrat</vt:lpstr>
      <vt:lpstr>Montserrat Medium</vt:lpstr>
      <vt:lpstr>Montserrat SemiBold</vt:lpstr>
      <vt:lpstr>Roboto</vt:lpstr>
      <vt:lpstr>Tema de Office</vt:lpstr>
      <vt:lpstr>Título principal </vt:lpstr>
      <vt:lpstr>Subtítulo</vt:lpstr>
      <vt:lpstr>Presentación de PowerPoint</vt:lpstr>
      <vt:lpstr>Título de la página 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Peter Calatayud Espinoza</dc:creator>
  <cp:lastModifiedBy>Luis Carlos Gutierrez Ramos</cp:lastModifiedBy>
  <cp:revision>11</cp:revision>
  <dcterms:created xsi:type="dcterms:W3CDTF">2024-07-11T04:59:31Z</dcterms:created>
  <dcterms:modified xsi:type="dcterms:W3CDTF">2026-05-11T20:48:27Z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0x010100E9ECF9989E3FAA44811BF2EABD0309F3</vt:lpwstr>
  </property>
</Properties>
</file>